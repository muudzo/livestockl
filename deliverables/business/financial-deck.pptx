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D4A8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61636</c:v>
                </c:pt>
                <c:pt idx="1">
                  <c:v>130867</c:v>
                </c:pt>
                <c:pt idx="2">
                  <c:v>198346</c:v>
                </c:pt>
                <c:pt idx="3">
                  <c:v>277259</c:v>
                </c:pt>
                <c:pt idx="4">
                  <c:v>361695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cost</c:v>
                </c:pt>
              </c:strCache>
            </c:strRef>
          </c:tx>
          <c:spPr>
            <a:solidFill>
              <a:srgbClr val="7A4F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48841</c:v>
                </c:pt>
                <c:pt idx="1">
                  <c:v>84274</c:v>
                </c:pt>
                <c:pt idx="2">
                  <c:v>132810</c:v>
                </c:pt>
                <c:pt idx="3">
                  <c:v>181365</c:v>
                </c:pt>
                <c:pt idx="4">
                  <c:v>235930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Operating surplus</c:v>
                </c:pt>
              </c:strCache>
            </c:strRef>
          </c:tx>
          <c:spPr>
            <a:solidFill>
              <a:srgbClr val="5A7D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12795</c:v>
                </c:pt>
                <c:pt idx="1">
                  <c:v>46593</c:v>
                </c:pt>
                <c:pt idx="2">
                  <c:v>65536</c:v>
                </c:pt>
                <c:pt idx="3">
                  <c:v>95894</c:v>
                </c:pt>
                <c:pt idx="4">
                  <c:v>125765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D1B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E6D3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D1B1A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5E6D3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Subscription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Year 5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266400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GMV take</c:v>
                </c:pt>
              </c:strCache>
            </c:strRef>
          </c:tx>
          <c:spPr>
            <a:solidFill>
              <a:srgbClr val="D4A8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Year 5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53618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Transport</c:v>
                </c:pt>
              </c:strCache>
            </c:strRef>
          </c:tx>
          <c:spPr>
            <a:solidFill>
              <a:srgbClr val="5A7D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Year 5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31677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Onboarding</c:v>
                </c:pt>
              </c:strCache>
            </c:strRef>
          </c:tx>
          <c:spPr>
            <a:solidFill>
              <a:srgbClr val="2D1B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Year 5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E6D3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D1B1A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5E6D3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surplus</c:v>
                </c:pt>
              </c:strCache>
            </c:strRef>
          </c:tx>
          <c:spPr>
            <a:solidFill>
              <a:srgbClr val="5A7D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12795</c:v>
                </c:pt>
                <c:pt idx="1">
                  <c:v>46593</c:v>
                </c:pt>
                <c:pt idx="2">
                  <c:v>65536</c:v>
                </c:pt>
                <c:pt idx="3">
                  <c:v>95894</c:v>
                </c:pt>
                <c:pt idx="4">
                  <c:v>125765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D1B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E6D3"/>
        </a:solidFill>
        <a:ln>
          <a:noFill/>
        </a:ln>
        <a:effectLst/>
      </c:spPr>
    </c:plotArea>
    <c:plotVisOnly val="1"/>
    <c:dispBlanksAs val="span"/>
  </c:chart>
  <c:spPr>
    <a:solidFill>
      <a:srgbClr val="F5E6D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JUNE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numbers.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financial overview for a scaling B2B-SaaS platform prying open a legacy,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manual, cash-based livestock-auction market — built on the Paynow rails.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houses onboard as tenants. Largely self-funded, with a working-capital buffer — not a raise.  </a:t>
            </a:r>
            <a:pPr indent="0" marL="0">
              <a:buNone/>
            </a:pPr>
            <a:r>
              <a:rPr lang="en-US" sz="1300" i="1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Zimbabwe — conservative by necessity, not by choice.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revenue lines. The subscription is the spine.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B2B SaaS platform — auction houses onboard as isolated tenants. Pricing set to realistic Zimbabwean willingness-to-pay in USD.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2606040" cy="214884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240280"/>
            <a:ext cx="73152" cy="21488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US$1.5–3.5k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3200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one-off, at signing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tenant, data migration, Paynow integration, on-floor training. Self-serve wizard keeps it low-touch.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2240280"/>
            <a:ext cx="2606040" cy="214884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3" name="Shape 11"/>
          <p:cNvSpPr/>
          <p:nvPr/>
        </p:nvSpPr>
        <p:spPr>
          <a:xfrm>
            <a:off x="3383280" y="2240280"/>
            <a:ext cx="73152" cy="21488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1188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US$0.9–1.5k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611880" y="3200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recurring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11880" y="35204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platform, run for them across five channels. The reliable, contractual spine.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2240280"/>
            <a:ext cx="2606040" cy="214884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2240280"/>
            <a:ext cx="73152" cy="21488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0" name="Text 18"/>
          <p:cNvSpPr/>
          <p:nvPr/>
        </p:nvSpPr>
        <p:spPr>
          <a:xfrm>
            <a:off x="6355080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+ TRANSPORT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0.75% + US$15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355080" y="3200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take · delivery booking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55080" y="35204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take on settled GMV (atop Paynow's fee) plus the B2B2C transport booking leg — both compound.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4526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pricing:  </a:t>
            </a:r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US$1k + US$1,000/mo  ·  Tier C US$1.5k + US$900/mo  ·  Tier B US$2.5k + US$1,200/mo  ·  Tier A US$3.5k + US$1,500/mo  ·  all + 0.75% take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per-house unit works — at field-honest adoption.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mature auction house, at field-honest digital adoption (~13%) of its physical GMV. Recurring revenue comfortably exceeds the marginal cost to serve it.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31720" y="2377440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000" dirty="0"/>
          </a:p>
          <a:p>
            <a:pPr algn="r"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(Y1 one-off)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11880" y="2377440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1000" dirty="0"/>
          </a:p>
          <a:p>
            <a:pPr algn="r"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(×12)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23774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@13%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237744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/ yr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086600" y="237744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/ yr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7863840" cy="0"/>
          </a:xfrm>
          <a:prstGeom prst="line">
            <a:avLst/>
          </a:prstGeom>
          <a:noFill/>
          <a:ln w="19050">
            <a:solidFill>
              <a:srgbClr val="B85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45536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(anchor)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31720" y="3145536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US$3,500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11880" y="3145536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US$18,000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3145536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US$4,228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60720" y="3145536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US$22,228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086600" y="314553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US$21,420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3803904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B (mid)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331720" y="3803904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US$2,500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11880" y="3803904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US$14,400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54880" y="380390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US$2,114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0" y="3803904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US$16,514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086600" y="3803904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US$15,390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pPr indent="0" marL="0">
              <a:buNone/>
            </a:pPr>
            <a:r>
              <a:rPr lang="en-US" sz="11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is sound per-unit. The onboarding wizard makes each new tenant low-touch, so a house's recurring revenue clears its cost to serve from the day it goes live.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CASE — A SCALING PLATFORM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Surplus-positive from the first year.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self-funded with a 2–3 month working-capital buffer — not a raise. Twenty houses live (5 → 8 → 12 → 16 → 20) over five years; the founder draws a salary inside payroll.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286000"/>
          <a:ext cx="52120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12648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532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+US$12,795</a:t>
            </a:r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</a:rPr>
              <a:t>  surplus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126480" y="2862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houses live · rev US$61,636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126480" y="30815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126480" y="32826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+US$65,536</a:t>
            </a:r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</a:rPr>
              <a:t>  surplus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126480" y="36118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houses live · rev US$198,346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126480" y="383133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0325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+US$125,765</a:t>
            </a:r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</a:rPr>
              <a:t>  surplus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126480" y="43616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houses live · rev US$361,695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equity required: US$0.  </a:t>
            </a:r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Self-funded with a prudent 2–3 month opex buffer; the Year-1 cushion is thin (~3.5 weeks of opex). Cumulative surplus reaches US$346,583 over 5 years.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MOVES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rides on house count and transport, not adoption.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higher digital adoption barely moves revenue — the GMV take is thin. What scales the platform is more houses onboarded and the consumer transport line ramping.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PUSHING ADOPTION HARDER (20-house book, Y5 GMV take)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 (base)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2606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US$53,618/yr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9900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 adoption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51760" y="29900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US$70,000/yr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3741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adoption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33741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US$85,500/yr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75818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adoption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375818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US$101,000/yr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hold adoption field-honest (~13.7%, below the ~15% mature ceiling) — it is not the lever.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37760" y="2240280"/>
            <a:ext cx="3611880" cy="233172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7" name="Shape 15"/>
          <p:cNvSpPr/>
          <p:nvPr/>
        </p:nvSpPr>
        <p:spPr>
          <a:xfrm>
            <a:off x="4937760" y="2240280"/>
            <a:ext cx="73152" cy="2331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516636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LEVERS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66360" y="2697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→ 20 houses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</a:rPr>
              <a:t>  + transport attach 5% → 24%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166360" y="33375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 self-serve onboarding wizard makes adding tenants low-touch, so the platform scales on house count. The consumer transport line grows from US$826 to US$31,677/yr as the buyer base widens — diversifying B2B into B2B2C.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bulk of revenue is contractual subscription.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subscription carries the model, slow digital adoption hurts the upside — not the survival. The GMV take and transport line are the parts that compound as trust builds and the consumer base widens.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331720"/>
          <a:ext cx="42062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120640" y="2395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(recurring spine)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315200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US$266,400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120640" y="29077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take (compounds)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0" y="290779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US$53,618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120640" y="34198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(B2B2C upside)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0" y="3419856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US$31,677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20640" y="39319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(one-off)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315200" y="39319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US$10,000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120640" y="429768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shape that makes Paynow's own model durable: recurring relationships first, transaction upside second.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PAYNOW UPSIDE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dollar we move, moves on Paynow rails.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take revenue is thin. The GMV we route onto Paynow — and the products it activates — is the number that matters to you, and it grows fastest.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68096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US$895k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68096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45766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45766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2373782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73782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US$2,463k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373782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51453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51453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3979469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79469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US$3,683k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979469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57139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57139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3" name="Text 21"/>
          <p:cNvSpPr/>
          <p:nvPr/>
        </p:nvSpPr>
        <p:spPr>
          <a:xfrm>
            <a:off x="5585155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85155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US$5,311k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85155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062826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062826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8" name="Text 26"/>
          <p:cNvSpPr/>
          <p:nvPr/>
        </p:nvSpPr>
        <p:spPr>
          <a:xfrm>
            <a:off x="7190842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90842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US$7,149k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190842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7673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GMV onto Paynow rails:  </a:t>
            </a:r>
            <a:pPr indent="0" marL="0">
              <a:buNone/>
            </a:pPr>
            <a:r>
              <a:rPr lang="en-US" sz="1150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US$19,501,000 (over US$19.5M).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0080" y="4114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THIS PUTS TO WORK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43891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Express Checkout  ·  Bisafe escrow  ·  BillPay-as-biller  ·  EcoCash USSD  ·  merchant transfers  ·  </a:t>
            </a:r>
            <a:pPr indent="0" marL="0">
              <a:buNone/>
            </a:pPr>
            <a:r>
              <a:rPr lang="en-US" sz="11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Paab cash (once unblocked)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GROWS — WITHOUT A RAISE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Operating surplus funds the next cohort of houses.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funding round because there is nowhere to raise one. Growth is paid for out of operating surplus, behind a 2–3 month working-capital buffer — self-funded and durable.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331720"/>
          <a:ext cx="502920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897880" y="22860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Reinvest, don't raise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897880" y="25420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Surplus from the live book funds the next onboarding cohort and the team that runs it — no outside equity.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897880" y="30632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Compounds with scale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897880" y="33192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Surplus grows roughly tenfold Y1→Y5 (US$13k → US$126k) as houses ramp 5 → 20 and transport attaches.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97880" y="38404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Buffer, not runway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897880" y="409651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prudent 2–3 month opex working-capital buffer absorbs a bad quarter — Y1's cushion is thin, so the buffer matters.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by necessity: a Zimbabwean platform that cannot raise must be surplus-positive early — so we built one that is.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WATCHING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risks specific to building this here.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the things that don't show up in a first-world model.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4688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4140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USD scarcity &amp; cash habits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25880" y="270662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and houses transact in cash; USD is tight. Mitigation: meet them on five rails (web/PWA, WhatsApp, USSD, BillPay, Messenger) so digital is easier than cash.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228600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73752" y="24688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/>
          <p:nvPr/>
        </p:nvSpPr>
        <p:spPr>
          <a:xfrm>
            <a:off x="487375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94960" y="24140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Currency volatility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394960" y="270662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ZWL/ZiG swings wipe out local-currency margins. Mitigation: all pricing in USD; the take invoiced on USD-equivalent settled GMV.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70332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64845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 Year-1 cushion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325880" y="394106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raise means a slim buffer for a bad quarter. Mitigation: hold a 2–3 month opex working-capital buffer; never spend ahead of surplus.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09160" y="352044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73752" y="370332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/>
          <p:nvPr/>
        </p:nvSpPr>
        <p:spPr>
          <a:xfrm>
            <a:off x="4873752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394960" y="364845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 concentration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394960" y="394106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leans on landing 3 of ~8 Tier A anchors in Year 1. Mitigation: anchors-first GTM, paid pilots that credit toward onboarding, and the self-serve wizard to keep the funnel moving.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We're not asking for money. We're asking for doors and rails.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88720" y="23957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 the rails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Paab sandbox + docs (the only red on the board) and the BillPay PAY round-trip (vendor-portal registration; AUTH is already live). These widen the buyer base and lift adoption.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317296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 the partnership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ZimLivestock as Paynow's livestock vertical solution; Paynow BD refers livestock-industry prospects. We grow your GMV; you grow our pipeline.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88720" y="395020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one door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introduction to one Harare-area auction house. The pilot is paid by the customer, not by Paynow — we just need the room.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ONE-PARAGRAPH VERSION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 scaling B2B-SaaS platform, self-funded behind a working-capital buffer — not a startup with a raised runway.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is no capital to raise in this market, so the platform is built to be surplus-positive early as houses onboard as tenants —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operating surplus of US$12,795 → US$125,765 across five years (cumulative US$346,583), on US$0 of outside equity.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per-house economics work; growth rides on house count and transport, paid for from surplus; B2B today, B2B2C tomorrow.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along the way it routes over US$19.5M onto Paynow's rails.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software you can sell — and a business this market can actually carry.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1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    ·    companion: financial-model.xlsx, gtm-strategy.md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ZimLivestock — Financial Overview (5-year scaling platform)</dc:title>
  <dc:subject>PptxGenJS Presentation</dc:subject>
  <dc:creator>Tatenda Nyemudzo</dc:creator>
  <cp:lastModifiedBy>Tatenda Nyemudzo</cp:lastModifiedBy>
  <cp:revision>1</cp:revision>
  <dcterms:created xsi:type="dcterms:W3CDTF">2026-06-04T14:32:29Z</dcterms:created>
  <dcterms:modified xsi:type="dcterms:W3CDTF">2026-06-04T14:32:29Z</dcterms:modified>
</cp:coreProperties>
</file>