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D4A8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12321</c:v>
                </c:pt>
                <c:pt idx="1">
                  <c:v>28071</c:v>
                </c:pt>
                <c:pt idx="2">
                  <c:v>48987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Costs</c:v>
                </c:pt>
              </c:strCache>
            </c:strRef>
          </c:tx>
          <c:spPr>
            <a:solidFill>
              <a:srgbClr val="7A4F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31440</c:v>
                </c:pt>
                <c:pt idx="1">
                  <c:v>41280</c:v>
                </c:pt>
                <c:pt idx="2">
                  <c:v>55720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-19119</c:v>
                </c:pt>
                <c:pt idx="1">
                  <c:v>-13209</c:v>
                </c:pt>
                <c:pt idx="2">
                  <c:v>-6733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D1B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E6D3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D1B1A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5E6D3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Retainer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Year 3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36900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Engagement</c:v>
                </c:pt>
              </c:strCache>
            </c:strRef>
          </c:tx>
          <c:spPr>
            <a:solidFill>
              <a:srgbClr val="D4A8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Year 3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Tx surcharge</c:v>
                </c:pt>
              </c:strCache>
            </c:strRef>
          </c:tx>
          <c:spPr>
            <a:solidFill>
              <a:srgbClr val="2D1B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Year 3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4087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E6D3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D1B1A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5E6D3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net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-13199</c:v>
                </c:pt>
                <c:pt idx="1">
                  <c:v>-19708</c:v>
                </c:pt>
                <c:pt idx="2">
                  <c:v>3496</c:v>
                </c:pt>
                <c:pt idx="3">
                  <c:v>47934</c:v>
                </c:pt>
                <c:pt idx="4">
                  <c:v>103345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D1B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E6D3"/>
        </a:solidFill>
        <a:ln>
          <a:noFill/>
        </a:ln>
        <a:effectLst/>
      </c:spPr>
    </c:plotArea>
    <c:plotVisOnly val="1"/>
    <c:dispBlanksAs val="span"/>
  </c:chart>
  <c:spPr>
    <a:solidFill>
      <a:srgbClr val="F5E6D3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JUNE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numbers.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423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financial overview for an early-stage startup prying open a legacy,</a:t>
            </a:r>
            <a:endParaRPr lang="en-US" sz="1900" dirty="0"/>
          </a:p>
          <a:p>
            <a:pPr indent="0" marL="0">
              <a:buNone/>
            </a:pPr>
            <a:r>
              <a:rPr lang="en-US" sz="1900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manual, cash-based livestock-auction market — built on the Paynow rails.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703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base case + a clearly-labeled path to viability.  </a:t>
            </a:r>
            <a:pPr indent="0" marL="0">
              <a:buNone/>
            </a:pPr>
            <a:r>
              <a:rPr lang="en-US" sz="1300" i="1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hockey sticks.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MODEL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revenue lines. The retainer is the spine.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Software-as-a-professional-service, not SaaS. Pricing revised down to realistic Zimbabwean willingness-to-pay in USD.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2606040" cy="214884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240280"/>
            <a:ext cx="73152" cy="21488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US$5–8k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868680" y="3200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one-off, at signing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Discovery, branded skin, data migration, Paynow integration, on-floor training day.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2240280"/>
            <a:ext cx="2606040" cy="214884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3" name="Shape 11"/>
          <p:cNvSpPr/>
          <p:nvPr/>
        </p:nvSpPr>
        <p:spPr>
          <a:xfrm>
            <a:off x="3383280" y="2240280"/>
            <a:ext cx="73152" cy="21488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11880" y="26974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US$1.0–1.5k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3611880" y="3200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recurring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11880" y="35204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the platform on their behalf. The reliable, contractual spine — not adoption-dependent.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2240280"/>
            <a:ext cx="2606040" cy="214884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9" name="Shape 17"/>
          <p:cNvSpPr/>
          <p:nvPr/>
        </p:nvSpPr>
        <p:spPr>
          <a:xfrm>
            <a:off x="6126480" y="2240280"/>
            <a:ext cx="73152" cy="21488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0" name="Text 18"/>
          <p:cNvSpPr/>
          <p:nvPr/>
        </p:nvSpPr>
        <p:spPr>
          <a:xfrm>
            <a:off x="6355080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SURCHARGE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26974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0.75%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6355080" y="3200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settled GMV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55080" y="352044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compounds with digital adoption. Sits on top of Paynow's own fee.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4526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pricing:  </a:t>
            </a:r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US$5k + US$1,000/mo  ·  Tier B US$6k + US$1,200/mo  ·  Tier A US$8k + US$1,500/mo  ·  all + 0.75% surcharge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per-house unit works — even at 15% adoption.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mature auction house, at just 15% of its physical GMV settling digitally. Contribution comfortably exceeds the marginal cost to serve it.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31720" y="2377440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000" dirty="0"/>
          </a:p>
          <a:p>
            <a:pPr algn="r" indent="0" marL="0">
              <a:buNone/>
            </a:pPr>
            <a:r>
              <a:rPr lang="en-US" sz="10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(Y1 one-off)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11880" y="2377440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</a:t>
            </a:r>
            <a:endParaRPr lang="en-US" sz="1000" dirty="0"/>
          </a:p>
          <a:p>
            <a:pPr algn="r" indent="0" marL="0">
              <a:buNone/>
            </a:pPr>
            <a:r>
              <a:rPr lang="en-US" sz="10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(×12)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0" y="23774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@15%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60720" y="2377440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/ yr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086600" y="237744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/ yr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7863840" cy="0"/>
          </a:xfrm>
          <a:prstGeom prst="line">
            <a:avLst/>
          </a:prstGeom>
          <a:noFill/>
          <a:ln w="19050">
            <a:solidFill>
              <a:srgbClr val="B85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145536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(anchor)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331720" y="3145536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US$8,000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11880" y="3145536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US$18,000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3145536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US$4,860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760720" y="3145536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US$22,860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086600" y="314553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US$21,420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3803904"/>
            <a:ext cx="1691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B (mid)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331720" y="3803904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US$6,000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11880" y="3803904"/>
            <a:ext cx="1143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US$14,400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54880" y="380390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US$2,430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760720" y="3803904"/>
            <a:ext cx="1325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US$16,830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086600" y="3803904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US$15,390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pPr indent="0" marL="0">
              <a:buNone/>
            </a:pPr>
            <a:r>
              <a:rPr lang="en-US" sz="11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is sound per-unit. What's hard is amortizing the founder + support cost across enough houses — that's the real question, and it's the next slide.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CASE — “FLOOR”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houses, 15% adoption. Investment-stage by design.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conservative: one pilot lands ~month 6, a second by year 2, a third by year 3. This is the floor — what we earn if every percent of adoption is hard-won.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286000"/>
          <a:ext cx="52120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12648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532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−US$19,119</a:t>
            </a:r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</a:rPr>
              <a:t>  net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126480" y="2862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house live · rev US$12,321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126480" y="30815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126480" y="32826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−US$13,209</a:t>
            </a:r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</a:rPr>
              <a:t>  net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126480" y="36118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houses live · rev US$28,071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126480" y="383133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0325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−US$6,733</a:t>
            </a:r>
            <a:pPr indent="0" marL="0">
              <a:buNone/>
            </a:pPr>
            <a:r>
              <a:rPr lang="en-US" sz="1100" dirty="0">
                <a:solidFill>
                  <a:srgbClr val="7A4F47"/>
                </a:solidFill>
              </a:rPr>
              <a:t>  net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126480" y="43616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houses live · rev US$48,987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3-year totals:  </a:t>
            </a:r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US$89,379 · costs US$128,440 · net −US$39,061.  Standalone break-even sits beyond the 3-year window.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It's a scale problem, not an adoption problem.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Chasing higher digital adoption barely moves the floor. The transaction surcharge is tiny next to a paid founder + support base — what we need is more houses, not more clicks per house.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PUSHING ADOPTION HARDER (3-house book, Y3 avg monthly net)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adoption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651760" y="26060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−US$978/mo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900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adoption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51760" y="29900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−US$910/mo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3741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adoption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337413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−US$842/mo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75818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adoption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375818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−US$776/mo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adoption recovers ~US$200/mo. It does not get us to profit.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937760" y="2240280"/>
            <a:ext cx="3611880" cy="2331720"/>
          </a:xfrm>
          <a:prstGeom prst="rect">
            <a:avLst/>
          </a:prstGeom>
          <a:solidFill>
            <a:srgbClr val="2D1B1A"/>
          </a:solidFill>
          <a:ln/>
        </p:spPr>
      </p:sp>
      <p:sp>
        <p:nvSpPr>
          <p:cNvPr id="17" name="Shape 15"/>
          <p:cNvSpPr/>
          <p:nvPr/>
        </p:nvSpPr>
        <p:spPr>
          <a:xfrm>
            <a:off x="4937760" y="2240280"/>
            <a:ext cx="73152" cy="2331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516636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LEVER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66360" y="2697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~US$15–21k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</a:rPr>
              <a:t>  contribution / mature house / yr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166360" y="32918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~US$48–55k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</a:rPr>
              <a:t>  annual fixed cost (founder + support)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166360" y="38862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Break-even needs ~5–6 houses in the book with the early ones matured — or a leaner founder cost, or the upside rails on the next slides.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QUALITY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 of revenue is contractual, not volume-dependent.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retainer carries the model, slow digital adoption hurts the upside — not the survival. The transaction surcharge is the part that compounds as trust builds.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331720"/>
          <a:ext cx="420624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12064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(recurring spine)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0" y="246888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US$36,900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0" y="30358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(one-off)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0" y="30358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US$8,000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120640" y="360273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surcharge (compounds)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0" y="3602736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US$4,087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120640" y="420624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shape that makes Paynow's own model durable: recurring relationships first, transaction upside second.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PAYNOW UPSIDE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dollar we move, moves on Paynow rails.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surcharge revenue is small. The GMV we route onto Paynow — and the products it activates — is the number that matters to you, and it grows fastest.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6060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697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US$43,200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through Paynow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2286000"/>
            <a:ext cx="26060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66160" y="2697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US$223,200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56616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through Paynow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2286000"/>
            <a:ext cx="26060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2860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697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US$545,400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309360" y="3246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through Paynow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840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THIS PUTS TO WORK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41148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D1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Express Checkout  ·  Bisafe escrow  ·  BillPay-as-biller  ·  EcoCash USSD  ·  merchant transfers  ·  </a:t>
            </a:r>
            <a:pPr indent="0" marL="0">
              <a:buNone/>
            </a:pPr>
            <a:r>
              <a:rPr lang="en-US" sz="12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Paab cash (once unblocked)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VIABILITY — UPSIDE, NOT BASE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scale, it crosses break-even in year 3.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product, executed faster: 6 houses by month 44, 20% adoption, and the transport margin layered in. Cumulative net turns positive in year 3 and compounds.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286000"/>
          <a:ext cx="53035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3108960" y="30632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A7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3108960" y="32735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172200" y="23774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 NET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72200" y="25786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+US$23,204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172200" y="3090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 NET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72200" y="3291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A7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+US$55,411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172200" y="380390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@ MONTH 60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72200" y="4005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+US$103,345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as upside on purpose. We do not assume it in planning — we earn our way to it.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6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MOVES THE NEEDLE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levers between the floor and the path.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impact. The first is ours to execute; the last three are largely unblocked by Paynow.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4688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4140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houses, sooner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25880" y="270662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dominant lever. Each mature house adds ~US$15–21k contribution. 2 signings/yr instead of 1 is the difference between floor and path.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28600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73752" y="24688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/>
          <p:nvPr/>
        </p:nvSpPr>
        <p:spPr>
          <a:xfrm>
            <a:off x="487375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94960" y="241401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Transport margin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394960" y="270662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shipped: US$15 base + US$0.35/km, capped US$250. A per-delivery margin that scales with volume, excluded from the base case.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70332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64845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Paab + BillPay rails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25880" y="394106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 cash-in (Paab) and BillPay-PAY and the addressable buyer base widens past smartphone users — lifting adoption above 15%.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09160" y="352044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73752" y="370332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/>
          <p:nvPr/>
        </p:nvSpPr>
        <p:spPr>
          <a:xfrm>
            <a:off x="4873752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394960" y="3648456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1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Lean founder cost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394960" y="394106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draw is the largest fixed line. Equity-over-salary in the early years pulls break-even forward by quarters.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FINANCIAL OVERVIEW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A4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from Paynow turn the floor into the path.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88720" y="23957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 the rails   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Paab sandbox + docs, and BillPay-PAY vendor-portal registration. These widen the buyer base and lift adoption above the floor.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88720" y="317296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 the partnership   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ZimLivestock as Paynow's vertical solution for livestock. Co-marketing, a case study, a warm intro to one Harare auction house.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188720" y="395020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a paid pilot   </a:t>
            </a:r>
            <a:pPr indent="0" marL="0">
              <a:buNone/>
            </a:pPr>
            <a:r>
              <a:rPr lang="en-US" sz="12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90-day pilot, US$5k + US$1,000/mo. It proves the per-house economics and produces the reference number the whole model rests on.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1B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ONE-PARAGRAPH VERSION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per-house economics work even at 15% adoption.  </a:t>
            </a:r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base case is investment-stage — </a:t>
            </a:r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houses, three years, −US$39,061 net, </a:t>
            </a:r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because breaking a manual, cash-based market is slow and we refuse to pretend otherwise.  </a:t>
            </a:r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constraint is scale, not adoption.  </a:t>
            </a:r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rgbClr val="F5E6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Paynow unblocking the rails and backing one pilot, the same product crosses break-even in year 3 — </a:t>
            </a:r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routes over US$800k onto Paynow rails along the way.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D4A8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software you can sell — and price it for the market it's actually in.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100" dirty="0">
                <a:solidFill>
                  <a:srgbClr val="BFAA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    ·    companion: financial-model.xlsx, gtm-strategy.md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ZimLivestock — Financial Overview</dc:title>
  <dc:subject>PptxGenJS Presentation</dc:subject>
  <dc:creator>Tatenda Nyemudzo</dc:creator>
  <cp:lastModifiedBy>Tatenda Nyemudzo</cp:lastModifiedBy>
  <cp:revision>1</cp:revision>
  <dcterms:created xsi:type="dcterms:W3CDTF">2026-06-04T07:00:24Z</dcterms:created>
  <dcterms:modified xsi:type="dcterms:W3CDTF">2026-06-04T07:00:24Z</dcterms:modified>
</cp:coreProperties>
</file>