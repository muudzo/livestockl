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12321</c:v>
                </c:pt>
                <c:pt idx="1">
                  <c:v>28071</c:v>
                </c:pt>
                <c:pt idx="2">
                  <c:v>48987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</c:v>
                </c:pt>
              </c:strCache>
            </c:strRef>
          </c:tx>
          <c:spPr>
            <a:solidFill>
              <a:srgbClr val="7A4F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6240</c:v>
                </c:pt>
                <c:pt idx="1">
                  <c:v>10480</c:v>
                </c:pt>
                <c:pt idx="2">
                  <c:v>16720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Founder income (surplus)</c:v>
                </c:pt>
              </c:strCache>
            </c:strRef>
          </c:tx>
          <c:spPr>
            <a:solidFill>
              <a:srgbClr val="5A7D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6081</c:v>
                </c:pt>
                <c:pt idx="1">
                  <c:v>17591</c:v>
                </c:pt>
                <c:pt idx="2">
                  <c:v>32267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1B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E6D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1B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E6D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Retainer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3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36900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3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Tx surcharge</c:v>
                </c:pt>
              </c:strCache>
            </c:strRef>
          </c:tx>
          <c:spPr>
            <a:solidFill>
              <a:srgbClr val="2D1B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3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4087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E6D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1B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E6D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Founder income</c:v>
                </c:pt>
              </c:strCache>
            </c:strRef>
          </c:tx>
          <c:spPr>
            <a:solidFill>
              <a:srgbClr val="5A7D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6081</c:v>
                </c:pt>
                <c:pt idx="1">
                  <c:v>17591</c:v>
                </c:pt>
                <c:pt idx="2">
                  <c:v>32267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1B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E6D3"/>
        </a:solidFill>
        <a:ln>
          <a:noFill/>
        </a:ln>
        <a:effectLst/>
      </c:spPr>
    </c:plotArea>
    <c:plotVisOnly val="1"/>
    <c:dispBlanksAs val="span"/>
  </c:chart>
  <c:spPr>
    <a:solidFill>
      <a:srgbClr val="F5E6D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JUNE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numbers.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financial overview for a bootstrapped business prying open a legacy,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manual, cash-based livestock-auction market — built on the Paynow rails.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Owner-operated. No funding round. No founder salary. Cash-financed from day one.  </a:t>
            </a:r>
            <a:pPr indent="0" marL="0">
              <a:buNone/>
            </a:pPr>
            <a:r>
              <a:rPr lang="en-US" sz="13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Zimbabwe — conservative by necessity, not by choice.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dev@paynow.co.zw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lines. The retainer is the spine.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Software-as-a-professional-service, not SaaS. Pricing set to realistic Zimbabwean willingness-to-pay in USD.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606040" cy="21488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73152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US$5–8k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one-off, at signing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branded skin, data migration, Paynow integration, on-floor training day.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240280"/>
            <a:ext cx="2606040" cy="21488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240280"/>
            <a:ext cx="73152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US$1.0–1.5k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6118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recurring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operate the platform on their behalf. The reliable, contractual spine.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240280"/>
            <a:ext cx="2606040" cy="21488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240280"/>
            <a:ext cx="73152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SURCHARGE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63550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settled GMV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compounds with adoption. Sits on top of Paynow's own fee.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pricing:  </a:t>
            </a:r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US$5k + US$1,000/mo  ·  Tier B US$6k + US$1,200/mo  ·  Tier A US$8k + US$1,500/mo  ·  all + 0.75% surcharge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per-house unit works — even at 15% adoption.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mature auction house, at just 15% of its physical GMV settling digitally. Contribution comfortably exceeds the marginal cost to serve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237744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(Y1 one-off)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11880" y="237744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(×12)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@15%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237744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/ 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237744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/ yr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78638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4553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(anchor)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314553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US$8,000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145536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US$18,000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14553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US$4,860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314553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US$22,860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86600" y="314553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US$21,420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80390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(mid)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803904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US$6,000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80390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US$14,400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80390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US$2,430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80390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US$16,830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86600" y="380390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US$15,390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1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sound per-unit. There is no big fixed cost to amortize — the founder draws no salary — so each house's contribution is real income from the day it matures.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— A BOOTSTRAP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Cash-positive from the first live house.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capital, no founder salary, no hire-ahead. The founder's income is the operating surplus. Three houses (1 → 2 → 3) over three years.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26480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+US$6,081</a:t>
            </a:r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</a:rPr>
              <a:t>  income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0" y="2862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house · rev US$12,321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26480" y="3081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+US$17,591</a:t>
            </a:r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</a:rPr>
              <a:t>  income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3611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houses · rev US$28,071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26480" y="38313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4032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+US$32,267</a:t>
            </a:r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</a:rPr>
              <a:t>  income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26480" y="4361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houses · rev US$48,987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capital required: US$0.  </a:t>
            </a:r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the founder is ever out of pocket is US$2,250 (pre-launch months) — self-financed. Founder earns US$55,939 over 3 years.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MOVES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an operator-capacity problem, not an adoption one.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higher digital adoption barely moves income — the transaction surcharge is tiny. What grows the business is running more houses well.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ADOPTION HARDER (3-house book, Y3 avg monthly surplus)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adoption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+US$2,522/mo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adoption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+US$2,590/mo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adoption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+US$2,658/mo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58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adoption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7581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+US$2,724/mo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adoption recovers only ~US$200/mo. It is not the lever.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2240280"/>
            <a:ext cx="3611880" cy="233172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2240280"/>
            <a:ext cx="73152" cy="2331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~US$15–21k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</a:rPr>
              <a:t>  income per mature house / yr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66360" y="33375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Grow by adding houses, each funded from the surplus of the last. No salary to cover, so every new house is income — until the ceiling, which is how many one owner + cheap part-time help can run well.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 of revenue is contractual, not volume-dependent.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retainer carries the model, slow digital adoption hurts the upside — not the survival. The transaction surcharge is the part that compounds as trust builds.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1206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(recurring spine)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2468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US$36,900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2064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(one-off)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30358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US$8,000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2064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surcharge (compounds)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36027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US$4,087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20640" y="4206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shape that makes Paynow's own model durable: recurring relationships first, transaction upside second.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PAYNOW UPSIDE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dollar we move, moves on Paynow rails.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surcharge revenue is small. The GMV we route onto Paynow — and the products it activates — is the number that matters to you, and it grows fastest.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US$43,200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through Paynow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US$223,200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through Paynow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US$545,400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through Paynow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THIS PUTS TO 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Express Checkout  ·  Bisafe escrow  ·  BillPay-as-biller  ·  EcoCash USSD  ·  merchant transfers  ·  </a:t>
            </a:r>
            <a:pPr indent="0" marL="0">
              <a:buNone/>
            </a:pPr>
            <a:r>
              <a:rPr lang="en-US" sz="12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Paab cash (once unblocked)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 — WITHOUT A RAISE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house's surplus funds the next.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funding round because there is nowhere to raise one. Growth is paid for out of operating surplus — slow, self-funded, and durable.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50292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897880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Reinvest, don't raise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97880" y="25420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from house #1 pays the part-time help that lets the founder take on house #2.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9788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Compounds slowly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897880" y="33192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roughly quintuples Y1→Y3 (US$6k → US$18k → US$32k) — on no outside money.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Ceiling is people, not cash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897880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caps at how many houses an owner + helpers can run well — then you hire from surplus, never from a raise.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necessity: a Zimbabwean startup that cannot raise must be cash-positive — so we built one that is.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WATCHING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risks specific to building this here.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the things that don't show up in a first-world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4688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4140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scarcity &amp; cash habits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70662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houses transact in cash; USD is tight. Mitigation: meet them on every rail (USSD, BillPay, Paab) so digital is easier than cash.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24688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24140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volatility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270662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ZWL/ZiG swings wipe out local-currency margins. Mitigation: all pricing in USD; surcharge invoiced on USD-equivalent settled.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7033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capital cushion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25880" y="39410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raise means no buffer for a bad quarter. Mitigation: stay cash-positive from house #1; never spend ahead of surplus.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52044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3752" y="37033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Operator-capacity ceiling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94960" y="39410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can only run so many houses. Mitigation: reinvest surplus into part-time help before signing the house that would overload us.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FINANCIAL OVERVIEW  ·  JUNE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asking for money. We're asking for doors and rails.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88720" y="239572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the rails   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Paab sandbox + docs (the only red on the board) and the BillPay PAY round-trip (vendor-portal registration; AUTH is already live). These widen the buyer base and lift adoption.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31729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partnership   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ZimLivestock as Paynow's livestock vertical solution; Paynow BD refers livestock-industry prospects. We grow your GMV; you grow our pipeline.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39502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door   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introduction to one Harare-area auction house. The pilot is paid by the customer, not by Paynow — we just need the room.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ONE-PARAGRAPH VERSION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bootstrap, not a startup with a runway.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capital to raise in this market, so the business is built to be cash-positive from the first house —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income of US$6,081 → US$32,267 across three years, on US$0 of outside money,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never more than US$2,250 out of pocket.  The per-house economics work; growth is paid for from surplus; the ceiling is people, not cash.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along the way it routes over US$800k onto Paynow's rails.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software you can sell — and a business this market can actually carry.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1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dev@paynow.co.zw    ·    companion: financial-model.xlsx, gtm-strategy.md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ZimLivestock — Financial Overview (Zimbabwe bootstrap)</dc:title>
  <dc:subject>PptxGenJS Presentation</dc:subject>
  <dc:creator>Tatenda Nyemudzo</dc:creator>
  <cp:lastModifiedBy>Tatenda Nyemudzo</cp:lastModifiedBy>
  <cp:revision>1</cp:revision>
  <dcterms:created xsi:type="dcterms:W3CDTF">2026-06-04T07:36:23Z</dcterms:created>
  <dcterms:modified xsi:type="dcterms:W3CDTF">2026-06-04T07:36:23Z</dcterms:modified>
</cp:coreProperties>
</file>