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D1B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ZIMLIVESTOCK  ·  MAY 2026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F5E6D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Software you can sell.</a:t>
            </a:r>
            <a:endParaRPr lang="en-US" sz="5600" dirty="0"/>
          </a:p>
        </p:txBody>
      </p:sp>
      <p:sp>
        <p:nvSpPr>
          <p:cNvPr id="5" name="Text 3"/>
          <p:cNvSpPr/>
          <p:nvPr/>
        </p:nvSpPr>
        <p:spPr>
          <a:xfrm>
            <a:off x="640080" y="246888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D4A8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scaling B2B SaaS platform for Zimbabwean livestock auction houses, built on the Paynow ecosystem — B2B today, consumer transport tomorrow.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40080" y="4434840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5E6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Tatenda Nyemudzo</a:t>
            </a:r>
            <a:pPr indent="0" marL="0">
              <a:buNone/>
            </a:pPr>
            <a:r>
              <a:rPr lang="en-US" sz="1200" dirty="0">
                <a:solidFill>
                  <a:srgbClr val="BFAA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Paynow internship  ·   May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E6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OPPORTUNITY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868680"/>
            <a:ext cx="7863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D1B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Zimbabwean auction houses leave money on the floor every Saturday.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640080" y="1691640"/>
            <a:ext cx="7863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findings from a real field visit in March 2026, ranked by what they cost the auction house owner.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" y="2331720"/>
            <a:ext cx="1874520" cy="21945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0080" y="2331720"/>
            <a:ext cx="54864" cy="2194560"/>
          </a:xfrm>
          <a:prstGeom prst="rect">
            <a:avLst/>
          </a:prstGeom>
          <a:solidFill>
            <a:srgbClr val="B85042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246888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B8504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US$1k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822960" y="310896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2D1B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deposit gate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822960" y="3429000"/>
            <a:ext cx="1645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Filters serious buyers — but locks out the marginal bidder who'd push the price up by 5%.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651760" y="2331720"/>
            <a:ext cx="1874520" cy="21945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2651760" y="2331720"/>
            <a:ext cx="54864" cy="2194560"/>
          </a:xfrm>
          <a:prstGeom prst="rect">
            <a:avLst/>
          </a:prstGeom>
          <a:solidFill>
            <a:srgbClr val="B85042"/>
          </a:solidFill>
          <a:ln/>
        </p:spPr>
      </p:sp>
      <p:sp>
        <p:nvSpPr>
          <p:cNvPr id="13" name="Text 11"/>
          <p:cNvSpPr/>
          <p:nvPr/>
        </p:nvSpPr>
        <p:spPr>
          <a:xfrm>
            <a:off x="2834640" y="246888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B8504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12%</a:t>
            </a:r>
            <a:endParaRPr lang="en-US" sz="3600" dirty="0"/>
          </a:p>
        </p:txBody>
      </p:sp>
      <p:sp>
        <p:nvSpPr>
          <p:cNvPr id="14" name="Text 12"/>
          <p:cNvSpPr/>
          <p:nvPr/>
        </p:nvSpPr>
        <p:spPr>
          <a:xfrm>
            <a:off x="2834640" y="310896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2D1B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house fees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2834640" y="3429000"/>
            <a:ext cx="1645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enough that sub-$500 trades route around the auction via WhatsApp groups.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663440" y="2331720"/>
            <a:ext cx="1874520" cy="21945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663440" y="2331720"/>
            <a:ext cx="54864" cy="2194560"/>
          </a:xfrm>
          <a:prstGeom prst="rect">
            <a:avLst/>
          </a:prstGeom>
          <a:solidFill>
            <a:srgbClr val="B85042"/>
          </a:solidFill>
          <a:ln/>
        </p:spPr>
      </p:sp>
      <p:sp>
        <p:nvSpPr>
          <p:cNvPr id="18" name="Text 16"/>
          <p:cNvSpPr/>
          <p:nvPr/>
        </p:nvSpPr>
        <p:spPr>
          <a:xfrm>
            <a:off x="4846320" y="246888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B8504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3600" dirty="0"/>
          </a:p>
        </p:txBody>
      </p:sp>
      <p:sp>
        <p:nvSpPr>
          <p:cNvPr id="19" name="Text 17"/>
          <p:cNvSpPr/>
          <p:nvPr/>
        </p:nvSpPr>
        <p:spPr>
          <a:xfrm>
            <a:off x="4846320" y="310896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2D1B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constable bottleneck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846320" y="3429000"/>
            <a:ext cx="1645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Police clearance is paper-based and in-person. Physically caps every sale day.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675120" y="2331720"/>
            <a:ext cx="1874520" cy="21945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675120" y="2331720"/>
            <a:ext cx="54864" cy="2194560"/>
          </a:xfrm>
          <a:prstGeom prst="rect">
            <a:avLst/>
          </a:prstGeom>
          <a:solidFill>
            <a:srgbClr val="B85042"/>
          </a:solidFill>
          <a:ln/>
        </p:spPr>
      </p:sp>
      <p:sp>
        <p:nvSpPr>
          <p:cNvPr id="23" name="Text 21"/>
          <p:cNvSpPr/>
          <p:nvPr/>
        </p:nvSpPr>
        <p:spPr>
          <a:xfrm>
            <a:off x="6858000" y="246888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B8504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</a:t>
            </a:r>
            <a:endParaRPr lang="en-US" sz="3600" dirty="0"/>
          </a:p>
        </p:txBody>
      </p:sp>
      <p:sp>
        <p:nvSpPr>
          <p:cNvPr id="24" name="Text 22"/>
          <p:cNvSpPr/>
          <p:nvPr/>
        </p:nvSpPr>
        <p:spPr>
          <a:xfrm>
            <a:off x="6858000" y="310896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2D1B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remarketing list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6858000" y="3429000"/>
            <a:ext cx="1645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Saturday's buyers walk out the door. No digital footprint, no next-week SMS.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4818888"/>
            <a:ext cx="7315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300" kern="0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ZIMLIVESTOCK  ·  PITCH TO PAYNOW MD  ·  MAY 2026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4818888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E6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PRODUCT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868680"/>
            <a:ext cx="7863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D1B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digital floor running under the auction house's own brand —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640080" y="150876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i="1" dirty="0">
                <a:solidFill>
                  <a:srgbClr val="B8504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each house onboarded as its own isolated tenant, in minutes.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640080" y="2386584"/>
            <a:ext cx="146304" cy="146304"/>
          </a:xfrm>
          <a:prstGeom prst="ellipse">
            <a:avLst/>
          </a:prstGeom>
          <a:solidFill>
            <a:srgbClr val="D4A843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286000"/>
            <a:ext cx="7589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D1B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Self-serve onboarding wizard: /operators → admin approval → an RLS-isolated tenant in ~6 minutes, no SQL.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40080" y="2788920"/>
            <a:ext cx="146304" cy="146304"/>
          </a:xfrm>
          <a:prstGeom prst="ellipse">
            <a:avLst/>
          </a:prstGeom>
          <a:solidFill>
            <a:srgbClr val="D4A843"/>
          </a:solidFill>
          <a:ln/>
        </p:spPr>
      </p:sp>
      <p:sp>
        <p:nvSpPr>
          <p:cNvPr id="9" name="Text 7"/>
          <p:cNvSpPr/>
          <p:nvPr/>
        </p:nvSpPr>
        <p:spPr>
          <a:xfrm>
            <a:off x="914400" y="2688336"/>
            <a:ext cx="7589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D1B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live channels: web/PWA, WhatsApp, USSD, BillPay-as-biller, Facebook Messenger — buyers meet us where they already transact.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40080" y="3191256"/>
            <a:ext cx="146304" cy="146304"/>
          </a:xfrm>
          <a:prstGeom prst="ellipse">
            <a:avLst/>
          </a:prstGeom>
          <a:solidFill>
            <a:srgbClr val="D4A843"/>
          </a:solidFill>
          <a:ln/>
        </p:spPr>
      </p:sp>
      <p:sp>
        <p:nvSpPr>
          <p:cNvPr id="11" name="Text 9"/>
          <p:cNvSpPr/>
          <p:nvPr/>
        </p:nvSpPr>
        <p:spPr>
          <a:xfrm>
            <a:off x="914400" y="3090672"/>
            <a:ext cx="7589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D1B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Paynow settlement, BillPay biller-inbound, EcoCash USSD, SMS notifications — every product in the ecosystem.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40080" y="3593592"/>
            <a:ext cx="146304" cy="146304"/>
          </a:xfrm>
          <a:prstGeom prst="ellipse">
            <a:avLst/>
          </a:prstGeom>
          <a:solidFill>
            <a:srgbClr val="D4A843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3493008"/>
            <a:ext cx="7589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D1B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Bisafe escrow replaces the US$1,000 cash deposit. Remote bidders become real bidders.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40080" y="3995928"/>
            <a:ext cx="146304" cy="146304"/>
          </a:xfrm>
          <a:prstGeom prst="ellipse">
            <a:avLst/>
          </a:prstGeom>
          <a:solidFill>
            <a:srgbClr val="D4A843"/>
          </a:solidFill>
          <a:ln/>
        </p:spPr>
      </p:sp>
      <p:sp>
        <p:nvSpPr>
          <p:cNvPr id="15" name="Text 13"/>
          <p:cNvSpPr/>
          <p:nvPr/>
        </p:nvSpPr>
        <p:spPr>
          <a:xfrm>
            <a:off x="914400" y="3895344"/>
            <a:ext cx="7589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D1B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Constable workflow tool turns paper clearance into a chain-of-custody record.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40080" y="4398264"/>
            <a:ext cx="146304" cy="146304"/>
          </a:xfrm>
          <a:prstGeom prst="ellipse">
            <a:avLst/>
          </a:prstGeom>
          <a:solidFill>
            <a:srgbClr val="D4A843"/>
          </a:solidFill>
          <a:ln/>
        </p:spPr>
      </p:sp>
      <p:sp>
        <p:nvSpPr>
          <p:cNvPr id="17" name="Text 15"/>
          <p:cNvSpPr/>
          <p:nvPr/>
        </p:nvSpPr>
        <p:spPr>
          <a:xfrm>
            <a:off x="914400" y="4297680"/>
            <a:ext cx="7589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D1B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buyer's phone number stays with the auction house — a remarketing list for next Saturday's sale.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457200" y="4818888"/>
            <a:ext cx="7315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300" kern="0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ZIMLIVESTOCK  ·  PITCH TO PAYNOW MD  ·  MAY 2026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4818888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12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E6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BUSINESS MODEL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868680"/>
            <a:ext cx="7863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D1B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 sell a subscription, not a licence.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640080" y="1691640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revenue lines: three B2B today, plus a consumer-transport line that grows the upside.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" y="2286000"/>
            <a:ext cx="2606040" cy="2240280"/>
          </a:xfrm>
          <a:prstGeom prst="rect">
            <a:avLst/>
          </a:prstGeom>
          <a:solidFill>
            <a:srgbClr val="2D1B1A"/>
          </a:solidFill>
          <a:ln/>
        </p:spPr>
      </p:sp>
      <p:sp>
        <p:nvSpPr>
          <p:cNvPr id="7" name="Shape 5"/>
          <p:cNvSpPr/>
          <p:nvPr/>
        </p:nvSpPr>
        <p:spPr>
          <a:xfrm>
            <a:off x="640080" y="2286000"/>
            <a:ext cx="73152" cy="224028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8" name="Text 6"/>
          <p:cNvSpPr/>
          <p:nvPr/>
        </p:nvSpPr>
        <p:spPr>
          <a:xfrm>
            <a:off x="868680" y="242316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ONBOARDING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868680" y="2743200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5E6D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$1,500 – $3,500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868680" y="329184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one-off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868680" y="3611880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FAA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 A $3,500 · B $2,500 · C $1,500. Branded tenant, data migration, Paynow integration, training day. Pilot $1,000, credited on conversion.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383280" y="2286000"/>
            <a:ext cx="2606040" cy="2240280"/>
          </a:xfrm>
          <a:prstGeom prst="rect">
            <a:avLst/>
          </a:prstGeom>
          <a:solidFill>
            <a:srgbClr val="2D1B1A"/>
          </a:solidFill>
          <a:ln/>
        </p:spPr>
      </p:sp>
      <p:sp>
        <p:nvSpPr>
          <p:cNvPr id="13" name="Shape 11"/>
          <p:cNvSpPr/>
          <p:nvPr/>
        </p:nvSpPr>
        <p:spPr>
          <a:xfrm>
            <a:off x="3383280" y="2286000"/>
            <a:ext cx="73152" cy="224028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14" name="Text 12"/>
          <p:cNvSpPr/>
          <p:nvPr/>
        </p:nvSpPr>
        <p:spPr>
          <a:xfrm>
            <a:off x="3611880" y="242316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SUBSCRIPTION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611880" y="2743200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5E6D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$900 – $1,500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3611880" y="329184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 month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3611880" y="3611880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FAA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 A $1,500 · B $1,200 · C $900. Platform access, monitoring, support, reconciliation, monthly reports.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126480" y="2286000"/>
            <a:ext cx="2606040" cy="2240280"/>
          </a:xfrm>
          <a:prstGeom prst="rect">
            <a:avLst/>
          </a:prstGeom>
          <a:solidFill>
            <a:srgbClr val="2D1B1A"/>
          </a:solidFill>
          <a:ln/>
        </p:spPr>
      </p:sp>
      <p:sp>
        <p:nvSpPr>
          <p:cNvPr id="19" name="Shape 17"/>
          <p:cNvSpPr/>
          <p:nvPr/>
        </p:nvSpPr>
        <p:spPr>
          <a:xfrm>
            <a:off x="6126480" y="2286000"/>
            <a:ext cx="73152" cy="224028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20" name="Text 18"/>
          <p:cNvSpPr/>
          <p:nvPr/>
        </p:nvSpPr>
        <p:spPr>
          <a:xfrm>
            <a:off x="6355080" y="242316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TX TAKE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355080" y="2743200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5E6D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0.75%</a:t>
            </a:r>
            <a:endParaRPr lang="en-US" sz="2600" dirty="0"/>
          </a:p>
        </p:txBody>
      </p:sp>
      <p:sp>
        <p:nvSpPr>
          <p:cNvPr id="22" name="Text 20"/>
          <p:cNvSpPr/>
          <p:nvPr/>
        </p:nvSpPr>
        <p:spPr>
          <a:xfrm>
            <a:off x="6355080" y="329184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settled GMV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355080" y="3611880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FAA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top of Paynow's fee. Aligns long-term incentives — the subscription carries the load. Transport adds a 4th, consumer line over time.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457200" y="4818888"/>
            <a:ext cx="7315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300" kern="0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ZIMLIVESTOCK  ·  PITCH TO PAYNOW MD  ·  MAY 2026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8229600" y="4818888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12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E6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CUSTOMER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868680"/>
            <a:ext cx="7863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2D1B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Meet "Mr. Mawere."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640080" y="1691640"/>
            <a:ext cx="7863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composite drawn from field-research conversations with real Zim auction-house owners. And the bookkeeper who has to approve every cent.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40080" y="22860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OWNER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40080" y="2514600"/>
            <a:ext cx="39319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2D1B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50-something, third-generation auction-house owner outside Harare.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2D1B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the floor every Saturday. Knows the regular buyers by name.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2D1B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Bought into EcoCash three years ago. Won't write a line of code.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2D1B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Decides on: keeps his brand? brings new buyers? when does the money land?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937760" y="2286000"/>
            <a:ext cx="356616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937760" y="2286000"/>
            <a:ext cx="73152" cy="228600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10" name="Text 8"/>
          <p:cNvSpPr/>
          <p:nvPr/>
        </p:nvSpPr>
        <p:spPr>
          <a:xfrm>
            <a:off x="5120640" y="2423160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HE WILL BUY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120640" y="2743200"/>
            <a:ext cx="324612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2D1B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A branded tenant, onboarded in minutes — not a build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2D1B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A subscription that keeps the platform running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2D1B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A small 0.75% take — shared upside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2D1B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A 12-month commitment, not a multi-year lock-in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7200" y="4818888"/>
            <a:ext cx="7315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300" kern="0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ZIMLIVESTOCK  ·  PITCH TO PAYNOW MD  ·  MAY 2026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8229600" y="4818888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12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E6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LANDSCAPE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868680"/>
            <a:ext cx="7863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D1B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 sit in the empty quadrant.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1554480" y="1874520"/>
            <a:ext cx="6400800" cy="2606040"/>
          </a:xfrm>
          <a:prstGeom prst="rect">
            <a:avLst/>
          </a:prstGeom>
          <a:solidFill>
            <a:srgbClr val="FFFFFF"/>
          </a:solidFill>
          <a:ln w="6350">
            <a:solidFill>
              <a:srgbClr val="7A4F4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754880" y="1874520"/>
            <a:ext cx="0" cy="2606040"/>
          </a:xfrm>
          <a:prstGeom prst="line">
            <a:avLst/>
          </a:prstGeom>
          <a:noFill/>
          <a:ln w="6350">
            <a:solidFill>
              <a:srgbClr val="7A4F4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554480" y="3177540"/>
            <a:ext cx="6400800" cy="0"/>
          </a:xfrm>
          <a:prstGeom prst="line">
            <a:avLst/>
          </a:prstGeom>
          <a:noFill/>
          <a:ln w="6350">
            <a:solidFill>
              <a:srgbClr val="7A4F4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554480" y="4526280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spc="300" kern="0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FOR ZIMBABWE →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40080" y="1874520"/>
            <a:ext cx="822960" cy="2606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spc="300" kern="0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SETTLEMENT BUILT IN →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737360" y="219456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Foreign platforms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(AuctionsPlus, LMA)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126480" y="2240280"/>
            <a:ext cx="1463040" cy="594360"/>
          </a:xfrm>
          <a:prstGeom prst="ellipse">
            <a:avLst/>
          </a:prstGeom>
          <a:solidFill>
            <a:srgbClr val="B85042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126480" y="2240280"/>
            <a:ext cx="1463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5E6D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ZimLivestock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737360" y="35433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Generic marketplaces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(Facebook, Classifieds)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937760" y="3543300"/>
            <a:ext cx="2834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 quo: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 groups + physical floors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57200" y="4818888"/>
            <a:ext cx="7315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300" kern="0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ZIMLIVESTOCK  ·  PITCH TO PAYNOW MD  ·  MAY 2026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4818888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12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E6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NUMBERS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868680"/>
            <a:ext cx="7863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D1B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$1.03M revenue over five years, off ~20 houses.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640080" y="155448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5-year model: 5 → 8 → 12 → 16 → 20 live houses (about a third of the ~40–60 house market). Subscription is the spine; transaction take and transport ride on top. All US$.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40080" y="2240280"/>
            <a:ext cx="16459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2286000" y="2240280"/>
            <a:ext cx="15544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 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840480" y="2240280"/>
            <a:ext cx="15544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 3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394960" y="2240280"/>
            <a:ext cx="15544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 5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949440" y="2240280"/>
            <a:ext cx="15544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5-yr total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40080" y="2542032"/>
            <a:ext cx="7863840" cy="0"/>
          </a:xfrm>
          <a:prstGeom prst="line">
            <a:avLst/>
          </a:prstGeom>
          <a:noFill/>
          <a:ln w="19050">
            <a:solidFill>
              <a:srgbClr val="B8504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2633472"/>
            <a:ext cx="16459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D1B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Houses live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286000" y="2633472"/>
            <a:ext cx="15544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2D1B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840480" y="2633472"/>
            <a:ext cx="15544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2D1B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394960" y="2633472"/>
            <a:ext cx="15544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2D1B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949440" y="2633472"/>
            <a:ext cx="15544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40080" y="2935224"/>
            <a:ext cx="16459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D1B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Onboarding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2286000" y="2935224"/>
            <a:ext cx="15544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2D1B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$14,500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3840480" y="2935224"/>
            <a:ext cx="15544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2D1B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$10,000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5394960" y="2935224"/>
            <a:ext cx="15544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2D1B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$10,000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949440" y="2935224"/>
            <a:ext cx="15544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$52,000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40080" y="3236976"/>
            <a:ext cx="16459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D1B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Subscription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2286000" y="3236976"/>
            <a:ext cx="15544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2D1B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$39,600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3840480" y="3236976"/>
            <a:ext cx="15544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2D1B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$151,200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5394960" y="3236976"/>
            <a:ext cx="15544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2D1B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$266,400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6949440" y="3236976"/>
            <a:ext cx="15544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$766,800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640080" y="3538728"/>
            <a:ext cx="16459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D1B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Tx take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2286000" y="3538728"/>
            <a:ext cx="15544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2D1B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$6,710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3840480" y="3538728"/>
            <a:ext cx="15544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2D1B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$27,625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394960" y="3538728"/>
            <a:ext cx="15544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2D1B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$53,618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949440" y="3538728"/>
            <a:ext cx="15544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$146,258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640080" y="3840480"/>
            <a:ext cx="16459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D1B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Transport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2286000" y="3840480"/>
            <a:ext cx="15544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2D1B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$826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3840480" y="3840480"/>
            <a:ext cx="15544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2D1B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$9,521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5394960" y="3840480"/>
            <a:ext cx="15544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2D1B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$31,677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949440" y="3840480"/>
            <a:ext cx="15544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$64,745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640080" y="4142232"/>
            <a:ext cx="16459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2286000" y="4142232"/>
            <a:ext cx="15544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$61,636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3840480" y="4142232"/>
            <a:ext cx="15544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$198,346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5394960" y="4142232"/>
            <a:ext cx="15544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$361,695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6949440" y="4142232"/>
            <a:ext cx="15544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$1,029,803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640080" y="4142232"/>
            <a:ext cx="7863840" cy="0"/>
          </a:xfrm>
          <a:prstGeom prst="line">
            <a:avLst/>
          </a:prstGeom>
          <a:noFill/>
          <a:ln w="12700">
            <a:solidFill>
              <a:srgbClr val="B85042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40080" y="452628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i="1" dirty="0">
                <a:solidFill>
                  <a:srgbClr val="2D1B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Surplus &amp; funding:  </a:t>
            </a:r>
            <a:pPr indent="0" marL="0">
              <a:buNone/>
            </a:pPr>
            <a:r>
              <a:rPr lang="en-US" sz="1050" i="1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+$12,795 Y1 surplus (a thin ~3.5-week opex cushion) building to a 5-yr cumulative surplus of $346,583 — self-funded with a 2–3 month working-capital buffer, no external equity.</a:t>
            </a:r>
            <a:endParaRPr lang="en-US" sz="1050" dirty="0"/>
          </a:p>
        </p:txBody>
      </p:sp>
      <p:sp>
        <p:nvSpPr>
          <p:cNvPr id="44" name="Text 42"/>
          <p:cNvSpPr/>
          <p:nvPr/>
        </p:nvSpPr>
        <p:spPr>
          <a:xfrm>
            <a:off x="457200" y="4818888"/>
            <a:ext cx="7315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300" kern="0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ZIMLIVESTOCK  ·  PITCH TO PAYNOW MD  ·  MAY 2026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8229600" y="4818888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12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E6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GO-TO-MARKET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868680"/>
            <a:ext cx="7863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D1B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Anchors first, then a self-serve onboarding wizard.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640080" y="155448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houses live by end of Year 1, ramping to 20 by Year 5 — about a third of the market. The wizard turns each new house into a ~6-minute, admin-approved tenant, so growth rides on house count + transport, not bespoke labor.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40080" y="233172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 1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0080" y="2606040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D1B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Anchors signed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640080" y="3291840"/>
            <a:ext cx="2606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houses live — incl. 3 of ~8 Tier A anchors. Wizard live: /operators → admin approval → RLS-isolated tenant.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383280" y="233172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Years 2–3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383280" y="2606040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D1B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category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3383280" y="3291840"/>
            <a:ext cx="2606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→ 12 houses live. Case studies compound. Paynow formalises us as their vertical livestock solution.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126480" y="233172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Years 4–5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126480" y="2606040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D1B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 houses, +transport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6126480" y="3291840"/>
            <a:ext cx="2606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→ 20 live. $1.03M 5-yr revenue, $346,583 cumulative surplus. Consumer transport line ramps the B2B2C upside.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40080" y="443484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8504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</a:t>
            </a:r>
            <a:pPr indent="0" marL="0">
              <a:buNone/>
            </a:pPr>
            <a:r>
              <a:rPr lang="en-US" sz="1200" i="1" dirty="0">
                <a:solidFill>
                  <a:srgbClr val="2D1B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Position ZimLivestock as Paynow's vertical solution for livestock — reciprocal: we grow their GMV, they grow our pipeline.</a:t>
            </a:r>
            <a:pPr indent="0" marL="0">
              <a:buNone/>
            </a:pPr>
            <a:r>
              <a:rPr lang="en-US" sz="2000" b="1" dirty="0">
                <a:solidFill>
                  <a:srgbClr val="B8504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”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57200" y="4818888"/>
            <a:ext cx="7315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300" kern="0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ZIMLIVESTOCK  ·  PITCH TO PAYNOW MD  ·  MAY 2026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4818888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12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E6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WE'VE BUILT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868680"/>
            <a:ext cx="7863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D1B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We're not asking you to fund development.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640080" y="150876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i="1" dirty="0">
                <a:solidFill>
                  <a:srgbClr val="B8504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We're asking you to deploy what's running.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640080" y="2441448"/>
            <a:ext cx="201168" cy="201168"/>
          </a:xfrm>
          <a:prstGeom prst="ellipse">
            <a:avLst/>
          </a:prstGeom>
          <a:solidFill>
            <a:srgbClr val="D4A843"/>
          </a:solidFill>
          <a:ln w="19050">
            <a:solidFill>
              <a:srgbClr val="D4A84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2414016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D1B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960120" y="2377440"/>
            <a:ext cx="7589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D1B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React + Supabase PWA</a:t>
            </a:r>
            <a:pPr indent="0" marL="0">
              <a:buNone/>
            </a:pPr>
            <a:r>
              <a:rPr lang="en-US" sz="1100" i="1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production, mobile-first, USSD-friendly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2770632"/>
            <a:ext cx="201168" cy="201168"/>
          </a:xfrm>
          <a:prstGeom prst="ellipse">
            <a:avLst/>
          </a:prstGeom>
          <a:solidFill>
            <a:srgbClr val="D4A843"/>
          </a:solidFill>
          <a:ln w="19050">
            <a:solidFill>
              <a:srgbClr val="D4A84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743200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D1B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960120" y="2706624"/>
            <a:ext cx="7589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D1B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Paynow Core Express Checkout</a:t>
            </a:r>
            <a:pPr indent="0" marL="0">
              <a:buNone/>
            </a:pPr>
            <a:r>
              <a:rPr lang="en-US" sz="1100" i="1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demoed end-to-end with real USSD prompts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40080" y="3099816"/>
            <a:ext cx="201168" cy="201168"/>
          </a:xfrm>
          <a:prstGeom prst="ellipse">
            <a:avLst/>
          </a:prstGeom>
          <a:solidFill>
            <a:srgbClr val="D4A843"/>
          </a:solidFill>
          <a:ln w="19050">
            <a:solidFill>
              <a:srgbClr val="D4A84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3072384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D1B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60120" y="3035808"/>
            <a:ext cx="7589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D1B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BillPay biller-inbound API</a:t>
            </a:r>
            <a:pPr indent="0" marL="0">
              <a:buNone/>
            </a:pPr>
            <a:r>
              <a:rPr lang="en-US" sz="1100" i="1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coded this week, awaiting Paynow IPs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40080" y="3429000"/>
            <a:ext cx="201168" cy="201168"/>
          </a:xfrm>
          <a:prstGeom prst="ellipse">
            <a:avLst/>
          </a:prstGeom>
          <a:solidFill>
            <a:srgbClr val="D4A843"/>
          </a:solidFill>
          <a:ln w="19050">
            <a:solidFill>
              <a:srgbClr val="D4A84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3401568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D1B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960120" y="3364992"/>
            <a:ext cx="7589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D1B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TXT.co.zw SMS notifications</a:t>
            </a:r>
            <a:pPr indent="0" marL="0">
              <a:buNone/>
            </a:pPr>
            <a:r>
              <a:rPr lang="en-US" sz="1100" i="1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live in production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40080" y="3758184"/>
            <a:ext cx="201168" cy="201168"/>
          </a:xfrm>
          <a:prstGeom prst="ellipse">
            <a:avLst/>
          </a:prstGeom>
          <a:solidFill>
            <a:srgbClr val="D4A843"/>
          </a:solidFill>
          <a:ln w="19050">
            <a:solidFill>
              <a:srgbClr val="D4A84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0080" y="3730752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D1B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960120" y="3694176"/>
            <a:ext cx="7589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D1B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auto-buy demo</a:t>
            </a:r>
            <a:pPr indent="0" marL="0">
              <a:buNone/>
            </a:pPr>
            <a:r>
              <a:rPr lang="en-US" sz="1100" i="1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demoed to Paynow leadership 2026-05-08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640080" y="4087368"/>
            <a:ext cx="201168" cy="20116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7A4F4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60120" y="4023360"/>
            <a:ext cx="7589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D1B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Bisafe escrow integration</a:t>
            </a:r>
            <a:pPr indent="0" marL="0">
              <a:buNone/>
            </a:pPr>
            <a:r>
              <a:rPr lang="en-US" sz="1100" i="1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designed, awaiting Paynow Bisafe spec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4416552"/>
            <a:ext cx="201168" cy="20116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7A4F4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60120" y="4352544"/>
            <a:ext cx="7589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D1B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Paab cash-collection integration</a:t>
            </a:r>
            <a:pPr indent="0" marL="0">
              <a:buNone/>
            </a:pPr>
            <a:r>
              <a:rPr lang="en-US" sz="1100" i="1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designed, awaiting Paynow Paab spec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457200" y="4818888"/>
            <a:ext cx="7315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300" kern="0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ZIMLIVESTOCK  ·  PITCH TO PAYNOW MD  ·  MAY 2026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8229600" y="4818888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12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2D1B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5E6D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paid 90-day pilot.</a:t>
            </a:r>
            <a:endParaRPr lang="en-US" sz="4600" dirty="0"/>
          </a:p>
        </p:txBody>
      </p:sp>
      <p:sp>
        <p:nvSpPr>
          <p:cNvPr id="5" name="Text 3"/>
          <p:cNvSpPr/>
          <p:nvPr/>
        </p:nvSpPr>
        <p:spPr>
          <a:xfrm>
            <a:off x="640080" y="178308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D4A8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Harare-area auction house. Paynow listed as payment partner.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640080" y="2606040"/>
            <a:ext cx="2606040" cy="1188720"/>
          </a:xfrm>
          <a:prstGeom prst="rect">
            <a:avLst/>
          </a:prstGeom>
          <a:solidFill>
            <a:srgbClr val="F5E6D3">
              <a:alpha val="10000"/>
            </a:srgbClr>
          </a:solidFill>
          <a:ln w="12700">
            <a:solidFill>
              <a:srgbClr val="D4A84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269748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ONBOARDING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22960" y="297180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5E6D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$1,000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822960" y="345643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BFAA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credited toward tier on conversion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383280" y="2606040"/>
            <a:ext cx="2606040" cy="1188720"/>
          </a:xfrm>
          <a:prstGeom prst="rect">
            <a:avLst/>
          </a:prstGeom>
          <a:solidFill>
            <a:srgbClr val="F5E6D3">
              <a:alpha val="10000"/>
            </a:srgbClr>
          </a:solidFill>
          <a:ln w="12700">
            <a:solidFill>
              <a:srgbClr val="D4A84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66160" y="269748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SUBSCRIPTION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566160" y="297180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5E6D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$1,000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3566160" y="345643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BFAA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/month for the 90-day pilot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126480" y="2606040"/>
            <a:ext cx="2606040" cy="1188720"/>
          </a:xfrm>
          <a:prstGeom prst="rect">
            <a:avLst/>
          </a:prstGeom>
          <a:solidFill>
            <a:srgbClr val="F5E6D3">
              <a:alpha val="10000"/>
            </a:srgbClr>
          </a:solidFill>
          <a:ln w="12700">
            <a:solidFill>
              <a:srgbClr val="D4A84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09360" y="269748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TX TAKE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309360" y="297180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5E6D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0.75%</a:t>
            </a:r>
            <a:endParaRPr lang="en-US" sz="2800" dirty="0"/>
          </a:p>
        </p:txBody>
      </p:sp>
      <p:sp>
        <p:nvSpPr>
          <p:cNvPr id="17" name="Text 15"/>
          <p:cNvSpPr/>
          <p:nvPr/>
        </p:nvSpPr>
        <p:spPr>
          <a:xfrm>
            <a:off x="6309360" y="345643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BFAA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settled GMV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40080" y="402336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Success at day 90: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40080" y="429768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5E6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1. ≥30% of a sale-day's GMV through the platform.    </a:t>
            </a:r>
            <a:pPr indent="0" marL="0">
              <a:buNone/>
            </a:pPr>
            <a:r>
              <a:rPr lang="en-US" sz="1200" dirty="0">
                <a:solidFill>
                  <a:srgbClr val="F5E6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12-month commitment signed.    </a:t>
            </a:r>
            <a:pPr indent="0" marL="0">
              <a:buNone/>
            </a:pPr>
            <a:r>
              <a:rPr lang="en-US" sz="1200" dirty="0">
                <a:solidFill>
                  <a:srgbClr val="F5E6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Reference customer.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E6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COULD KILL THIS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868680"/>
            <a:ext cx="7863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D1B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Five real risks, each with a mitigation we've already chosen.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640080" y="2240280"/>
            <a:ext cx="7863840" cy="0"/>
          </a:xfrm>
          <a:prstGeom prst="line">
            <a:avLst/>
          </a:prstGeom>
          <a:noFill/>
          <a:ln w="12700">
            <a:solidFill>
              <a:srgbClr val="B8504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8745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4480560" y="187452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WE'VE ALREADY DE-RISKED IT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40080" y="2331720"/>
            <a:ext cx="3657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D1B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Landing 3 of ~8 Tier A anchors in Year 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480560" y="2331720"/>
            <a:ext cx="4023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 aggressive assumption. Anchors-first GTM + a thin Y1 surplus and a 2–3 month buffer absorb a slow start.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40080" y="2843784"/>
            <a:ext cx="7863840" cy="0"/>
          </a:xfrm>
          <a:prstGeom prst="line">
            <a:avLst/>
          </a:prstGeom>
          <a:noFill/>
          <a:ln w="3810">
            <a:solidFill>
              <a:srgbClr val="7A4F4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2843784"/>
            <a:ext cx="3657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D1B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Onboarding stays bespoke labor, capping scale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480560" y="2843784"/>
            <a:ext cx="4023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Self-serve wizard: /operators → admin approval → ~6-min RLS tenant. The 10th house costs roughly what the 2nd did.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0080" y="3355848"/>
            <a:ext cx="7863840" cy="0"/>
          </a:xfrm>
          <a:prstGeom prst="line">
            <a:avLst/>
          </a:prstGeom>
          <a:noFill/>
          <a:ln w="3810">
            <a:solidFill>
              <a:srgbClr val="7A4F4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3355848"/>
            <a:ext cx="3657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D1B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Paynow channel goes cold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480560" y="3355848"/>
            <a:ext cx="4023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Multi-rail product — EcoCash USSD direct + Stripe diaspora as fallback.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40080" y="3867912"/>
            <a:ext cx="7863840" cy="0"/>
          </a:xfrm>
          <a:prstGeom prst="line">
            <a:avLst/>
          </a:prstGeom>
          <a:noFill/>
          <a:ln w="3810">
            <a:solidFill>
              <a:srgbClr val="7A4F4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" y="3867912"/>
            <a:ext cx="3657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D1B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Adoption runs hotter than we forecast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480560" y="3867912"/>
            <a:ext cx="4023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hold it field-honest (10.5–13.7%, below the ~15% ceiling). Growth rides on house count + transport, not an adoption bet.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40080" y="4379976"/>
            <a:ext cx="7863840" cy="0"/>
          </a:xfrm>
          <a:prstGeom prst="line">
            <a:avLst/>
          </a:prstGeom>
          <a:noFill/>
          <a:ln w="3810">
            <a:solidFill>
              <a:srgbClr val="7A4F4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4379976"/>
            <a:ext cx="3657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D1B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Currency volatility wipes out unit economics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480560" y="4379976"/>
            <a:ext cx="4023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pricing in USD. Tx take invoiced in USD equiv of ZIG/ZWL settled.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57200" y="4818888"/>
            <a:ext cx="7315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300" kern="0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ZIMLIVESTOCK  ·  PITCH TO PAYNOW MD  ·  MAY 2026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8229600" y="4818888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12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2D1B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PARAGRAPH SUMMARY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1051560"/>
            <a:ext cx="78638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700" dirty="0">
                <a:solidFill>
                  <a:srgbClr val="F5E6D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There are roughly 40–60 livestock auction houses in Zimbabwe, and 3 of 4 national livestock-digitization initiatives have no settlement layer.  </a:t>
            </a:r>
            <a:pPr indent="0" marL="0">
              <a:spcAft>
                <a:spcPts val="400"/>
              </a:spcAft>
              <a:buNone/>
            </a:pPr>
            <a:r>
              <a:rPr lang="en-US" sz="1700" dirty="0">
                <a:solidFill>
                  <a:srgbClr val="F5E6D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 are that layer: a branded digital floor with Paynow settlement built in, onboarded house-by-house through a self-serve wizard.  </a:t>
            </a:r>
            <a:pPr indent="0" marL="0">
              <a:spcAft>
                <a:spcPts val="400"/>
              </a:spcAft>
              <a:buNone/>
            </a:pPr>
            <a:r>
              <a:rPr lang="en-US" sz="1700" dirty="0">
                <a:solidFill>
                  <a:srgbClr val="F5E6D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It's already shipping. The 5-year plan reaches 20 houses — about a third of the market — for $1.03M revenue and a $346,583 cumulative surplus, self-funded.  </a:t>
            </a:r>
            <a:pPr indent="0" marL="0">
              <a:spcAft>
                <a:spcPts val="400"/>
              </a:spcAft>
              <a:buNone/>
            </a:pPr>
            <a:r>
              <a:rPr lang="en-US" sz="1700" dirty="0">
                <a:solidFill>
                  <a:srgbClr val="F5E6D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 are looking for </a:t>
            </a:r>
            <a:pPr indent="0" marL="0">
              <a:spcAft>
                <a:spcPts val="400"/>
              </a:spcAft>
              <a:buNone/>
            </a:pPr>
            <a:r>
              <a:rPr lang="en-US" sz="1700" b="1" dirty="0">
                <a:solidFill>
                  <a:srgbClr val="D4A8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90-day pilot, $1,000 onboarding (credited on conversion) plus a $1,000 monthly subscription, </a:t>
            </a:r>
            <a:pPr indent="0" marL="0">
              <a:spcAft>
                <a:spcPts val="400"/>
              </a:spcAft>
              <a:buNone/>
            </a:pPr>
            <a:r>
              <a:rPr lang="en-US" sz="1700" dirty="0">
                <a:solidFill>
                  <a:srgbClr val="F5E6D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 land the first anchor and prove the playbook.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640080" y="361188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i="1" dirty="0">
                <a:solidFill>
                  <a:srgbClr val="D4A8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Don't build a thesis. Build software you can sell.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40080" y="4069080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FAA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you, on my second week at Paynow.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4572000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5E6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Tatenda Nyemudzo</a:t>
            </a:r>
            <a:pPr indent="0" marL="0">
              <a:buNone/>
            </a:pPr>
            <a:r>
              <a:rPr lang="en-US" sz="1200" dirty="0">
                <a:solidFill>
                  <a:srgbClr val="BFAA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dev@paynow.co.zw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ZimLivestock — Pitch to Paynow MD</dc:title>
  <dc:subject>PptxGenJS Presentation</dc:subject>
  <dc:creator>Tatenda Nyemudzo</dc:creator>
  <cp:lastModifiedBy>Tatenda Nyemudzo</cp:lastModifiedBy>
  <cp:revision>1</cp:revision>
  <dcterms:created xsi:type="dcterms:W3CDTF">2026-06-04T14:42:45Z</dcterms:created>
  <dcterms:modified xsi:type="dcterms:W3CDTF">2026-06-04T14:42:45Z</dcterms:modified>
</cp:coreProperties>
</file>