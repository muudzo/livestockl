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D4A8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61636</c:v>
                </c:pt>
                <c:pt idx="1">
                  <c:v>130867</c:v>
                </c:pt>
                <c:pt idx="2">
                  <c:v>198346</c:v>
                </c:pt>
                <c:pt idx="3">
                  <c:v>277259</c:v>
                </c:pt>
                <c:pt idx="4">
                  <c:v>361695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cost</c:v>
                </c:pt>
              </c:strCache>
            </c:strRef>
          </c:tx>
          <c:spPr>
            <a:solidFill>
              <a:srgbClr val="7A4F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48841</c:v>
                </c:pt>
                <c:pt idx="1">
                  <c:v>84274</c:v>
                </c:pt>
                <c:pt idx="2">
                  <c:v>132810</c:v>
                </c:pt>
                <c:pt idx="3">
                  <c:v>181365</c:v>
                </c:pt>
                <c:pt idx="4">
                  <c:v>235930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Operating surplus</c:v>
                </c:pt>
              </c:strCache>
            </c:strRef>
          </c:tx>
          <c:spPr>
            <a:solidFill>
              <a:srgbClr val="5A7D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12795</c:v>
                </c:pt>
                <c:pt idx="1">
                  <c:v>46593</c:v>
                </c:pt>
                <c:pt idx="2">
                  <c:v>65536</c:v>
                </c:pt>
                <c:pt idx="3">
                  <c:v>95894</c:v>
                </c:pt>
                <c:pt idx="4">
                  <c:v>125765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D1B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E6D3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D1B1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5E6D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PAYNOW INTERNSHIP  ·  JUNE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money layer for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Zimbabwe's cattle economy.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scaling B2B-SaaS platform that digitizes livestock auction houses, settles every sale on Paynow rails, and becomes the missing settlement layer for Zimbabwe's national cattle-digitization initiatives.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Tatenda Nyemudzo</a:t>
            </a:r>
            <a:pPr indent="0" marL="0">
              <a:buNone/>
            </a:pPr>
            <a:r>
              <a:rPr lang="en-US" sz="120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dev@paynow.co.zw    ·    Field research → product → GTM → numbers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ARGUMENT, IN ONE SLIDE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Field-validated problem. Shipped product. A national gap to fill.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sat through a real sale day, built a digital floor on Paynow rails, and found it slots exactly into the money-shaped hole in Zimbabwe's livestock-digitization stack.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18745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286000"/>
            <a:ext cx="54864" cy="22860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957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29443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findings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full sale day at a working cattle auction — the problems that shaped every product decision.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2286000"/>
            <a:ext cx="18745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51760" y="2286000"/>
            <a:ext cx="54864" cy="22860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2834640" y="23957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834640" y="29443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channels, shipped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347472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Web/PWA, WhatsApp, USSD, BillPay-as-biller, Messenger — running in production on Paynow.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286000"/>
            <a:ext cx="18745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286000"/>
            <a:ext cx="54864" cy="22860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3957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of 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846320" y="29443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schemes lack a money layer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47472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title and asset layers exist. The settlement + payout engine does not. We are it.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75120" y="2286000"/>
            <a:ext cx="18745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75120" y="2286000"/>
            <a:ext cx="54864" cy="22860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23957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$19.5M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858000" y="29443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onto Paynow rails (5yr)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0" y="347472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houses, US$1.03M revenue, US$346,583 cumulative surplus — self-funded.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82803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PAYNOW INTERNSHIP  ·  FINAL PRESENTATION  ·  JUNE 2026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3931920" y="1600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RESEARCH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931920" y="19202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started in the field, not the codebase.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931920" y="32461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visits to a working Zimbabwean cattle auction in March 2026. Before a line of code, I learned what the auction house actually sells — and who it leaves out.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floor leaves money on the table every Saturday.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findings from the field, ranked by what they cost the auction-house owner.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1874520" cy="2240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286000"/>
            <a:ext cx="54864" cy="22402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23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US$1k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3090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gate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401568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bidder fronts US$1,000 cash. Filters serious buyers — but locks out the salaried buyer who'd take a single goat.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51760" y="2286000"/>
            <a:ext cx="1874520" cy="2240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51760" y="2286000"/>
            <a:ext cx="54864" cy="22402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2834640" y="2423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834640" y="3090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fees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3401568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seller + 7% buyer. High enough that sub-US$500 trades route around the floor to WhatsApp groups.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286000"/>
            <a:ext cx="1874520" cy="2240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286000"/>
            <a:ext cx="54864" cy="22402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423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846320" y="3090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constable bottleneck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401568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clearance is paper, in-person, one officer. Physically caps how many animals clear per sale day.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75120" y="2286000"/>
            <a:ext cx="1874520" cy="2240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75120" y="2286000"/>
            <a:ext cx="54864" cy="22402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2423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6858000" y="3090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remarketing list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0" y="3401568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 of attendees are dealers, not end buyers. Every Saturday's crowd walks out with no digital footprint.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45720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opportunity:  </a:t>
            </a:r>
            <a:pPr indent="0" marL="0">
              <a:buNone/>
            </a:pPr>
            <a:r>
              <a:rPr lang="en-US" sz="105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auction house already owns the trust — deposit, inspection, police clearance. It just has no digital surface for it.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482803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PAYNOW INTERNSHIP  ·  FINAL PRESENTATION  ·  JUNE 2026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STRUCTURE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Trust-compression has willingness-to-pay.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Zimbabwe's livestock trade runs through three disconnected channels. The auction floor charges 12% — and still wins higher prices, because trust is the product.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834640" y="22860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MECHANISM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35040" y="22860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49440" y="22860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FOOTPRINT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615184"/>
            <a:ext cx="786384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432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auction pen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34640" y="27432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+ police clearance + inspection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0" y="274320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49440" y="27432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310128"/>
            <a:ext cx="7863840" cy="0"/>
          </a:xfrm>
          <a:prstGeom prst="line">
            <a:avLst/>
          </a:prstGeom>
          <a:noFill/>
          <a:ln w="3810">
            <a:solidFill>
              <a:srgbClr val="7A4F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1012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 / Facebook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34640" y="33101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reputation in closed groups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33101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9440" y="331012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only, no settlement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877056"/>
            <a:ext cx="7863840" cy="0"/>
          </a:xfrm>
          <a:prstGeom prst="line">
            <a:avLst/>
          </a:prstGeom>
          <a:noFill/>
          <a:ln w="3810">
            <a:solidFill>
              <a:srgbClr val="7A4F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87705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Village / informal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834640" y="387705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Kinship + repeat interaction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35040" y="387705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9440" y="387705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3434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pricing logic for the platform:  </a:t>
            </a:r>
            <a:pPr indent="0" marL="0">
              <a:buNone/>
            </a:pPr>
            <a:r>
              <a:rPr lang="en-US" sz="1200" i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the trust guarantees digitally at a lower fee. It's a wedge, not a race to zero — there is real headroom under 12%.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82803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PAYNOW INTERNSHIP  ·  FINAL PRESENTATION  ·  JUNE 2026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market is the buyers who can't attend.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floor serves dealers in one room on one weekday. The untapped demand is everyone the deposit, the schedule, and the geography exclude.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46304" cy="146304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8600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Salaried urban buyers — can't tie up US$1,000 or take a Wednesday off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98064"/>
            <a:ext cx="146304" cy="146304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70662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Zimbabweans — buying cattle for family back home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218688"/>
            <a:ext cx="146304" cy="146304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2724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&amp; smallholder farmers — outside the geographic catchment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639312"/>
            <a:ext cx="146304" cy="146304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4787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butcheries — too small to send a dealer to the pen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0" y="2240280"/>
            <a:ext cx="2880360" cy="2331720"/>
          </a:xfrm>
          <a:prstGeom prst="rect">
            <a:avLst/>
          </a:prstGeom>
          <a:solidFill>
            <a:srgbClr val="2D1B1A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0" y="2240280"/>
            <a:ext cx="73152" cy="2331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5897880" y="2377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LIQUIDITY BAR IS LOWER THAN IT LOOKS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97880" y="2880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~45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5897880" y="36576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bidders per auction — the highest bid-card observed. We don't need to fill a room of 200; we need ~45 serious bidders. That's reachable.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PAYNOW INTERNSHIP  ·  FINAL PRESENTATION  ·  JUNE 2026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3931920" y="1600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· LIVE DEMO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931920" y="19202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built — and it's already running.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931920" y="32461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floor under the auction house's own brand, on every Paynow product, reachable on every surface a Zimbabwean buyer actually uses. Not a prototype to fund — a deployment to scale.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digital floor under the house's own brand —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house onboarded as its own isolated tenant, in minutes.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340864"/>
            <a:ext cx="146304" cy="146304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402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onboarding wizard: /operators → admin approval → an RLS-isolated tenant in ~6 minutes, no SQL, no engineer on the floor.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52344"/>
            <a:ext cx="146304" cy="146304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517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live channels: web/PWA, WhatsApp, USSD, BillPay-as-biller, Facebook Messenger — buyers meet us where they already transact.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163824"/>
            <a:ext cx="146304" cy="146304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632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Paynow settlement, BillPay biller-inbound, EcoCash USSD, SMS notifications — every product in the ecosystem, on real rails.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575304"/>
            <a:ext cx="146304" cy="146304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4747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Bisafe escrow replaces the US$1,000 cash deposit with a small refundable hold — remote bidders become real bidders.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86784"/>
            <a:ext cx="146304" cy="146304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8862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Constable workflow tool turns paper police clearance into a first-class chain-of-custody state, not metadata.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98264"/>
            <a:ext cx="146304" cy="146304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2976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buyer's phone number stays with the auction house — a remarketing list for next Saturday's sale.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482803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PAYNOW INTERNSHIP  ·  FINAL PRESENTATION  ·  JUNE 2026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ALREADY BUILT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“fund the build.” “Deploy what's running.”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Mr. Mawere would log into next Saturday already exists in production.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76856"/>
            <a:ext cx="219456" cy="219456"/>
          </a:xfrm>
          <a:prstGeom prst="ellipse">
            <a:avLst/>
          </a:prstGeom>
          <a:solidFill>
            <a:srgbClr val="D4A843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494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React + Supabase PWA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production, mobile-first, USSD-friendly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2276856"/>
            <a:ext cx="219456" cy="219456"/>
          </a:xfrm>
          <a:prstGeom prst="ellipse">
            <a:avLst/>
          </a:prstGeom>
          <a:solidFill>
            <a:srgbClr val="D4A843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2494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0" y="22402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Paynow Core Express Checkout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demoed end-to-end with real EcoCash USSD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843784"/>
            <a:ext cx="219456" cy="219456"/>
          </a:xfrm>
          <a:prstGeom prst="ellipse">
            <a:avLst/>
          </a:prstGeom>
          <a:solidFill>
            <a:srgbClr val="D4A843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163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80720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TXT.co.zw SMS notifications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production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54880" y="2843784"/>
            <a:ext cx="219456" cy="219456"/>
          </a:xfrm>
          <a:prstGeom prst="ellipse">
            <a:avLst/>
          </a:prstGeom>
          <a:solidFill>
            <a:srgbClr val="D4A843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8163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280720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auction-close + winner RPC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place_bid / end_expired_auctions, live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410712"/>
            <a:ext cx="219456" cy="219456"/>
          </a:xfrm>
          <a:prstGeom prst="ellipse">
            <a:avLst/>
          </a:prstGeom>
          <a:solidFill>
            <a:srgbClr val="D4A843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3832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37413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auto-buy demo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demoed to Paynow leadership 2026-05-08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54880" y="3410712"/>
            <a:ext cx="219456" cy="219456"/>
          </a:xfrm>
          <a:prstGeom prst="ellipse">
            <a:avLst/>
          </a:prstGeom>
          <a:solidFill>
            <a:srgbClr val="D4A843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3832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20640" y="337413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BillPay biller-inbound API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live; PAY round-trip awaiting creds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3977640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A4F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394106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Bisafe escrow integration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designed, awaiting Paynow Bisafe spec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82803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PAYNOW INTERNSHIP  ·  FINAL PRESENTATION  ·  JUNE 2026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 → bid → real EcoCash USSD → Paid → winner SMS.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unbroken loop, on real rails, in under 90 seconds — the proof that everything before this slide is real.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874520" cy="1417320"/>
          </a:xfrm>
          <a:prstGeom prst="rect">
            <a:avLst/>
          </a:prstGeom>
          <a:solidFill>
            <a:srgbClr val="F5E6D3">
              <a:alpha val="12000"/>
            </a:srgbClr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04672" y="2697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 live auction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29900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feed → a DEMO lot ending in minutes.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2148840"/>
            <a:ext cx="1874520" cy="1417320"/>
          </a:xfrm>
          <a:prstGeom prst="rect">
            <a:avLst/>
          </a:prstGeom>
          <a:solidFill>
            <a:srgbClr val="F5E6D3">
              <a:alpha val="12000"/>
            </a:srgbClr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16352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816352" y="2697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US$0.06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16352" y="29900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penny ceiling — proves the no-minimum, sub-deposit path.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1874520" cy="1417320"/>
          </a:xfrm>
          <a:prstGeom prst="rect">
            <a:avLst/>
          </a:prstGeom>
          <a:solidFill>
            <a:srgbClr val="F5E6D3">
              <a:alpha val="12000"/>
            </a:srgbClr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28032" y="2697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on the phone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28032" y="29900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USSD prompt lands in 8–15s. Approve *151#.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75120" y="2148840"/>
            <a:ext cx="1874520" cy="1417320"/>
          </a:xfrm>
          <a:prstGeom prst="rect">
            <a:avLst/>
          </a:prstGeom>
          <a:solidFill>
            <a:srgbClr val="F5E6D3">
              <a:alpha val="12000"/>
            </a:srgbClr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9712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39712" y="2697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flips to Paid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39712" y="29900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&lt;20s — poll-sync beats the webhook.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794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never breaks: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paths must all fail before a user sees an error — the webhook, a 20-second poll-sync, and a Cloudflare relay for when Paynow's bot wall blocks Supabase directly. Resilience is the demo.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PAYNOW INTERNSHIP  ·  FINAL PRESENTATION  ·  JUNE 2026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3931920" y="1600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NATIONAL GATEWAY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931920" y="19202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Zimbabwe is digitizing its cattle. Nobody is moving the money.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931920" y="32461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national initiatives are building identity, title and asset layers for livestock. None of them owns verified payment, settlement, payout, or title-transfer-on-payment. That is exactly what we built — on Paynow.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NATIONAL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initiatives. All identity, title or asset. None money.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Zimbabwe's livestock-digitization stack — who's building what, and what each layer actually provides.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651760" y="22402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/ BACKER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0" y="2240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PROVIDES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98080" y="22402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2569464"/>
            <a:ext cx="786384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6090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E-Livestock Global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266090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(blockchain)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66090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UHF RFID ear tags — animal identity, origin, health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43800" y="2734056"/>
            <a:ext cx="914400" cy="31089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7543800" y="273405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3209544"/>
            <a:ext cx="7863840" cy="0"/>
          </a:xfrm>
          <a:prstGeom prst="line">
            <a:avLst/>
          </a:prstGeom>
          <a:noFill/>
          <a:ln w="3810">
            <a:solidFill>
              <a:srgbClr val="7A4F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0954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Stock Card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320954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Lands &amp; Agric.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20954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Digitized record of ownership, health, movement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43800" y="3282696"/>
            <a:ext cx="914400" cy="31089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7543800" y="328269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0080" y="3758184"/>
            <a:ext cx="7863840" cy="0"/>
          </a:xfrm>
          <a:prstGeom prst="line">
            <a:avLst/>
          </a:prstGeom>
          <a:noFill/>
          <a:ln w="3810">
            <a:solidFill>
              <a:srgbClr val="7A4F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75818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 auction networks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51760" y="375818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auctioneers (CC Sales)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75818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transaction venue — bidding per-kilogram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43800" y="3831336"/>
            <a:ext cx="914400" cy="31089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7" name="Text 25"/>
          <p:cNvSpPr/>
          <p:nvPr/>
        </p:nvSpPr>
        <p:spPr>
          <a:xfrm>
            <a:off x="7543800" y="38313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40080" y="4306824"/>
            <a:ext cx="7863840" cy="0"/>
          </a:xfrm>
          <a:prstGeom prst="line">
            <a:avLst/>
          </a:prstGeom>
          <a:noFill/>
          <a:ln w="3810">
            <a:solidFill>
              <a:srgbClr val="7A4F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30682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Asset tokenization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651760" y="430682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Livestock Trust → VFEX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43068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Financialization — 1 token per kg, listed on VFEX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543800" y="4379976"/>
            <a:ext cx="914400" cy="31089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3" name="Text 31"/>
          <p:cNvSpPr/>
          <p:nvPr/>
        </p:nvSpPr>
        <p:spPr>
          <a:xfrm>
            <a:off x="7543800" y="437997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0080" y="45720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insight:  </a:t>
            </a:r>
            <a:pPr indent="0" marL="0">
              <a:buNone/>
            </a:pPr>
            <a:r>
              <a:rPr lang="en-US" sz="1050" i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four are identity / title / asset layers with no payment + settlement + payout + title-transfer engine underneath. They are the missing half of each other.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482803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PAYNOW INTERNSHIP  ·  FINAL PRESENTATION  ·  JUNE 2026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the rail the whole stack plugs into.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built “which animal is this and who owns it.” We built “transact, settle, pay out, and transfer title — with money attached.”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· TITLE · ASSET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542032"/>
            <a:ext cx="22860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7A4F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4203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E-Livestock RFID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054096"/>
            <a:ext cx="22860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7A4F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540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Stock Card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22860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7A4F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6616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Per-kg auctions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078224"/>
            <a:ext cx="22860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7A4F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07822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VFEX tokenization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035808" y="3063240"/>
            <a:ext cx="640080" cy="457200"/>
          </a:xfrm>
          <a:prstGeom prst="rightArrow">
            <a:avLst/>
          </a:prstGeom>
          <a:solidFill>
            <a:srgbClr val="D4A843"/>
          </a:solidFill>
          <a:ln/>
        </p:spPr>
      </p:sp>
      <p:sp>
        <p:nvSpPr>
          <p:cNvPr id="16" name="Shape 14"/>
          <p:cNvSpPr/>
          <p:nvPr/>
        </p:nvSpPr>
        <p:spPr>
          <a:xfrm>
            <a:off x="3794760" y="2377440"/>
            <a:ext cx="2377440" cy="1828800"/>
          </a:xfrm>
          <a:prstGeom prst="rect">
            <a:avLst/>
          </a:prstGeom>
          <a:solidFill>
            <a:srgbClr val="2D1B1A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94760" y="2377440"/>
            <a:ext cx="2377440" cy="914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3886200" y="2542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ZIMLIVESTOCK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86200" y="2816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&amp; payout engine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77640" y="31546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Verified payment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977640" y="34015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Escrow + clearance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977640" y="364845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Seller payout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977640" y="389534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Title transfer on settle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63640" y="3063240"/>
            <a:ext cx="640080" cy="457200"/>
          </a:xfrm>
          <a:prstGeom prst="rightArrow">
            <a:avLst/>
          </a:prstGeom>
          <a:solidFill>
            <a:srgbClr val="D4A843"/>
          </a:solidFill>
          <a:ln/>
        </p:spPr>
      </p:sp>
      <p:sp>
        <p:nvSpPr>
          <p:cNvPr id="25" name="Shape 23"/>
          <p:cNvSpPr/>
          <p:nvPr/>
        </p:nvSpPr>
        <p:spPr>
          <a:xfrm>
            <a:off x="6995160" y="2697480"/>
            <a:ext cx="1554480" cy="1188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6" name="Text 24"/>
          <p:cNvSpPr/>
          <p:nvPr/>
        </p:nvSpPr>
        <p:spPr>
          <a:xfrm>
            <a:off x="6995160" y="2926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PAYNOW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995160" y="3291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rails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44348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Bridge, not pivot.  </a:t>
            </a:r>
            <a:pPr indent="0" marL="0">
              <a:buNone/>
            </a:pPr>
            <a:r>
              <a:rPr lang="en-US" sz="1100" i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identity layers become inputs we consume, not things we rebuild — every listing carries a nationally-recognized animal ID; every settled sale can write a title-transfer event back to the registry.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82803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PAYNOW INTERNSHIP  ·  FINAL PRESENTATION  ·  JUNE 2026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ALIGNMENT TRUE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small, additive moves — not a new company.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leverage ÷ effort. The work that makes “we align with the national initiatives” true and demonstrable is small and builds on the live schema.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26060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331720"/>
            <a:ext cx="260604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87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1 · schema + 1 edge fn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76148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Anchor every listing on the animal-ID layer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401568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the free-text reference to a structured animal_id / rfid_tag, validated against the E-Livestock / stock-card format. Each listing now carries a nationally-recognized ID.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2331720"/>
            <a:ext cx="26060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2331720"/>
            <a:ext cx="260604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2487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2 · shape an existing table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66160" y="276148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title-transfer back on settlement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66160" y="3401568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payment + clearance, emit an ownership-transfer event keyed to the animal ID — exactly the event the Digital Stock Card needs. Money + clearance are what actually change title.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2331720"/>
            <a:ext cx="26060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331720"/>
            <a:ext cx="260604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487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3 · small UX / RPC change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09360" y="276148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Per-kg auction mode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09360" y="3401568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weight-based bidding and A/B/C grade — the CC Sales convention. Closes the credibility gap with real auctioneers and matches how the market already prices cattle.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45720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caveat:  </a:t>
            </a:r>
            <a:pPr indent="0" marL="0">
              <a:buNone/>
            </a:pPr>
            <a:r>
              <a:rPr lang="en-US" sz="100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1–2 assume a data-sharing arrangement with the Ministry / E-Livestock that doesn't exist yet — a partnership ask, not a sprint. Tokenization/VFEX stays narrative color: regulated, 2–3 yr horizon.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PAYNOW INTERNSHIP  ·  FINAL PRESENTATION  ·  JUNE 2026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3931920" y="1600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931920" y="19202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enter — anchors first, then fill.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931920" y="32461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the scarce Tier-A houses early for GMV and credibility, then ride a self-serve wizard to ~20 houses (about a third of the market) over five years — largely self-funded.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PRICING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~40–60 houses, three tiers, priced to USD willingness-to-pay.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segments cleanly by sale-day GMV and cadence. Each tier has a one-off onboarding fee and a monthly subscription — plus a thin 0.75% take on settled GMV across all tiers.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606040" y="23317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SALE-DAY GMV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977640" y="23317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12080" y="23317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MKT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080760" y="23317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0" y="23317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2660904"/>
            <a:ext cx="786384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52344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— Anchor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275234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US$80–120k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977640" y="275234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212080" y="2752344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80760" y="275234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US$3,500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0" y="275234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US$1,500/mo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227832"/>
            <a:ext cx="7863840" cy="0"/>
          </a:xfrm>
          <a:prstGeom prst="line">
            <a:avLst/>
          </a:prstGeom>
          <a:noFill/>
          <a:ln w="3810">
            <a:solidFill>
              <a:srgbClr val="7A4F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22783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— Mid-market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06040" y="32278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US$40–80k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977640" y="322783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Wk–fortnight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12080" y="3227832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080760" y="322783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US$2,500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0" y="322783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US$1,200/mo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3703320"/>
            <a:ext cx="7863840" cy="0"/>
          </a:xfrm>
          <a:prstGeom prst="line">
            <a:avLst/>
          </a:prstGeom>
          <a:noFill/>
          <a:ln w="3810">
            <a:solidFill>
              <a:srgbClr val="7A4F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70332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— Small/regional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06040" y="370332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US$10–30k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977640" y="370332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Fortnightly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212080" y="370332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080760" y="370332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US$1,500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15200" y="370332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US$900/mo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4178808"/>
            <a:ext cx="7863840" cy="0"/>
          </a:xfrm>
          <a:prstGeom prst="line">
            <a:avLst/>
          </a:prstGeom>
          <a:noFill/>
          <a:ln w="3810">
            <a:solidFill>
              <a:srgbClr val="7A4F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17880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(any tier)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606040" y="417880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977640" y="417880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212080" y="4178808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080760" y="417880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US$1,000*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315200" y="417880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US$1,000/mo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0080" y="45720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*Pilot deposit credited toward the full tier onboarding fee on conversion — a converting house never pays twice.  All tiers + 0.75% take on settled GMV.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82803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PAYNOW INTERNSHIP  ·  FINAL PRESENTATION  ·  JUNE 2026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GROWTH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order is the strategy.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monetize consumers before the houses bring them. Every consumer line sits strictly downstream of B2B onboarding — which is why the model leans on subscriptions early.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1874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487168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3035808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Houses onboard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3675888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paying, RLS-isolated tenants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3154680"/>
            <a:ext cx="146304" cy="256032"/>
          </a:xfrm>
          <a:prstGeom prst="rightArrow">
            <a:avLst/>
          </a:prstGeom>
          <a:solidFill>
            <a:srgbClr val="B85042"/>
          </a:solidFill>
          <a:ln/>
        </p:spPr>
      </p:sp>
      <p:sp>
        <p:nvSpPr>
          <p:cNvPr id="12" name="Shape 10"/>
          <p:cNvSpPr/>
          <p:nvPr/>
        </p:nvSpPr>
        <p:spPr>
          <a:xfrm>
            <a:off x="2651760" y="2331720"/>
            <a:ext cx="1874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34640" y="2487168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283464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816352" y="3035808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Buyers &amp; sellers transact digitally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16352" y="3675888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settling on rails, not cash + WhatsApp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26280" y="3154680"/>
            <a:ext cx="146304" cy="256032"/>
          </a:xfrm>
          <a:prstGeom prst="rightArrow">
            <a:avLst/>
          </a:prstGeom>
          <a:solidFill>
            <a:srgbClr val="B85042"/>
          </a:solidFill>
          <a:ln/>
        </p:spPr>
      </p:sp>
      <p:sp>
        <p:nvSpPr>
          <p:cNvPr id="18" name="Shape 16"/>
          <p:cNvSpPr/>
          <p:nvPr/>
        </p:nvSpPr>
        <p:spPr>
          <a:xfrm>
            <a:off x="4663440" y="2331720"/>
            <a:ext cx="1874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2487168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28032" y="3035808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demand accumulates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28032" y="3675888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house is negligible; twelve is a logistics book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37960" y="3154680"/>
            <a:ext cx="146304" cy="256032"/>
          </a:xfrm>
          <a:prstGeom prst="rightArrow">
            <a:avLst/>
          </a:prstGeom>
          <a:solidFill>
            <a:srgbClr val="B85042"/>
          </a:solidFill>
          <a:ln/>
        </p:spPr>
      </p:sp>
      <p:sp>
        <p:nvSpPr>
          <p:cNvPr id="24" name="Shape 22"/>
          <p:cNvSpPr/>
          <p:nvPr/>
        </p:nvSpPr>
        <p:spPr>
          <a:xfrm>
            <a:off x="6675120" y="2331720"/>
            <a:ext cx="1874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0" y="2487168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39712" y="3035808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Transport revenue + stickiness grow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39712" y="3675888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house whose buyers get reliable delivery won't leave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3434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transport, and only transport:  </a:t>
            </a:r>
            <a:pPr indent="0" marL="0">
              <a:buNone/>
            </a:pPr>
            <a:r>
              <a:rPr lang="en-US" sz="1100" i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shipped (buyer checkout quote: US$15 base + US$0.35/km, capped US$250), it solves the #1 post-sale friction, and the buyer already expects to pay for delivery. We coordinate — we don't haul.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82803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PAYNOW INTERNSHIP  ·  FINAL PRESENTATION  ·  JUNE 2026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RAMP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→ 8 → 12 → 16 → 20 houses, anchors-first.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self-serve wizard turns each new house into a ~6-minute, admin-approved tenant — so growth rides on house count + transport, not bespoke labor. Adding the tenth house costs roughly what the second did.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Anchors signed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houses live — incl. 3 of ~8 Tier A anchors (the load-bearing bet). Wizard live: /operators → admin approval → RLS tenant.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383280" y="2377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2–3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category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383280" y="329184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→ 12 houses live. Case studies compound. Paynow's contacts become the channel that sources new houses.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26480" y="2377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4–5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houses + transport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126480" y="329184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→ 20 live (~1/3 of the market). Consumer-transport line ramps the B2B2C upside from 1.3% to 8.8% of revenue.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pPr indent="0" marL="0">
              <a:buNone/>
            </a:pPr>
            <a:r>
              <a:rPr lang="en-US" sz="1200" i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Paynow's growing contacts are the channel for selling this engine — and every house it sources routes its GMV onto Paynow's rails.</a:t>
            </a:r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82803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PAYNOW INTERNSHIP  ·  FINAL PRESENTATION  ·  JUNE 2026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D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3931920" y="1600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PREDICTIONS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931920" y="19202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honest numbers.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931920" y="32461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five-year model for a scaling B2B-SaaS platform prying open a legacy, manual, cash-based market. Surplus-positive every year. No raise — because there is nowhere in Zimbabwe to raise one.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Surplus-positive from the first year.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houses live (5 → 8 → 12 → 16 → 20) over five years; the founder draws a salary inside payroll. Self-funded with a 2–3 month working-capital buffer — not a raise.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286000"/>
          <a:ext cx="52120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126480" y="23317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126480" y="2532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7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+US$12,795</a:t>
            </a:r>
            <a:pPr indent="0" marL="0">
              <a:buNone/>
            </a:pPr>
            <a:r>
              <a:rPr lang="en-US" sz="1100" dirty="0">
                <a:solidFill>
                  <a:srgbClr val="7A4F47"/>
                </a:solidFill>
              </a:rPr>
              <a:t>  surplus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126480" y="28620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houses live · rev US$61,636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126480" y="30815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126480" y="328269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7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+US$65,536</a:t>
            </a:r>
            <a:pPr indent="0" marL="0">
              <a:buNone/>
            </a:pPr>
            <a:r>
              <a:rPr lang="en-US" sz="1100" dirty="0">
                <a:solidFill>
                  <a:srgbClr val="7A4F47"/>
                </a:solidFill>
              </a:rPr>
              <a:t>  surplus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126480" y="36118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houses live · rev US$198,346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126480" y="383133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126480" y="40325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7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+US$125,765</a:t>
            </a:r>
            <a:pPr indent="0" marL="0">
              <a:buNone/>
            </a:pPr>
            <a:r>
              <a:rPr lang="en-US" sz="1100" dirty="0">
                <a:solidFill>
                  <a:srgbClr val="7A4F47"/>
                </a:solidFill>
              </a:rPr>
              <a:t>  surplus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126480" y="43616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houses live · rev US$361,695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40080" y="45720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equity required: US$0.  </a:t>
            </a:r>
            <a:pPr indent="0" marL="0">
              <a:buNone/>
            </a:pPr>
            <a:r>
              <a:rPr lang="en-US" sz="105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surplus reaches US$346,583 over 5 years; the Year-1 cushion is thin (~3.5 weeks of opex), which is exactly why the buffer is non-negotiable.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482803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PAYNOW INTERNSHIP  ·  FINAL PRESENTATION  ·  JUNE 2026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US$1.03M over five years — subscription is the spine.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revenue lines: three B2B today, plus a consumer-transport line that grows the upside. All figures US$.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224028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0" y="224028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4960" y="224028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49440" y="224028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total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569464"/>
            <a:ext cx="786384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6090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Houses live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266090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266090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94960" y="266090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49440" y="266090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299008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86000" y="299008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$14,500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0" y="299008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$10,000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94960" y="299008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$10,000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0" y="299008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$52,000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3192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86000" y="33192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$39,600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40480" y="33192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$151,200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94960" y="33192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$266,400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49440" y="33192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$766,800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364845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take (0.75%)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286000" y="364845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$6,710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840480" y="364845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$27,625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94960" y="364845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$53,618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49440" y="364845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$146,258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39776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286000" y="39776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$826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840480" y="39776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$9,521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94960" y="39776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$31,677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49440" y="39776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$64,745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080" y="430682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286000" y="430682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$61,636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840480" y="430682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$198,346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394960" y="430682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$361,695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949440" y="430682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$1,029,803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40080" y="4306824"/>
            <a:ext cx="7863840" cy="0"/>
          </a:xfrm>
          <a:prstGeom prst="line">
            <a:avLst/>
          </a:prstGeom>
          <a:noFill/>
          <a:ln w="12700">
            <a:solidFill>
              <a:srgbClr val="B850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45262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mix shifts B2B → B2B2C:  </a:t>
            </a:r>
            <a:pPr indent="0" marL="0">
              <a:buNone/>
            </a:pPr>
            <a:r>
              <a:rPr lang="en-US" sz="105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98.7% auction-house / 1.3% transport in Y1 → 91.2% / 8.8% in Y5. Subscription stays ~74% of Y5 revenue — a consumer line on a B2B spine, not yet a co-equal pillar.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482803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PAYNOW INTERNSHIP  ·  FINAL PRESENTATION  ·  JUNE 2026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PAYNOW UPSIDE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dollar we move, moves on Paynow rails.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take revenue is thin by design. The GMV we route onto Paynow — and the products it activates — is the number that matters to you, and it grows fastest.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1486814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286000"/>
            <a:ext cx="54864" cy="13716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2395728"/>
            <a:ext cx="13222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" y="2724912"/>
            <a:ext cx="13222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US$895k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68096" y="3246120"/>
            <a:ext cx="13222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Paynow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45766" y="2286000"/>
            <a:ext cx="1486814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45766" y="2286000"/>
            <a:ext cx="54864" cy="13716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2373782" y="2395728"/>
            <a:ext cx="13222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3782" y="2724912"/>
            <a:ext cx="13222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US$2,463k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373782" y="3246120"/>
            <a:ext cx="13222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Paynow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51453" y="2286000"/>
            <a:ext cx="1486814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51453" y="2286000"/>
            <a:ext cx="54864" cy="13716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3979469" y="2395728"/>
            <a:ext cx="13222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79469" y="2724912"/>
            <a:ext cx="13222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US$3,683k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979469" y="3246120"/>
            <a:ext cx="13222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Paynow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57139" y="2286000"/>
            <a:ext cx="1486814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57139" y="2286000"/>
            <a:ext cx="54864" cy="13716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Text 21"/>
          <p:cNvSpPr/>
          <p:nvPr/>
        </p:nvSpPr>
        <p:spPr>
          <a:xfrm>
            <a:off x="5585155" y="2395728"/>
            <a:ext cx="13222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85155" y="2724912"/>
            <a:ext cx="13222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US$5,311k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585155" y="3246120"/>
            <a:ext cx="13222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Paynow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062826" y="2286000"/>
            <a:ext cx="1486814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062826" y="2286000"/>
            <a:ext cx="54864" cy="13716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8" name="Text 26"/>
          <p:cNvSpPr/>
          <p:nvPr/>
        </p:nvSpPr>
        <p:spPr>
          <a:xfrm>
            <a:off x="7190842" y="2395728"/>
            <a:ext cx="13222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90842" y="2724912"/>
            <a:ext cx="13222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US$7,149k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190842" y="3246120"/>
            <a:ext cx="13222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Paynow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376732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GMV onto Paynow rails:  </a:t>
            </a:r>
            <a:pPr indent="0" marL="0">
              <a:buNone/>
            </a:pPr>
            <a:r>
              <a:rPr lang="en-US" sz="1150" i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US$19,501,000 (over US$19.5M).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THIS PUTS TO WORK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43891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Express Checkout  ·  Bisafe escrow  ·  BillPay-as-biller  ·  EcoCash USSD  ·  merchant transfers  ·  SMS notifications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482803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PAYNOW INTERNSHIP  ·  FINAL PRESENTATION  ·  JUNE 2026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KILL THIS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real risks, each with a mitigation we've chosen.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the things that don't show up in a first-world model.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886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46888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39572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Landing 3 of ~8 Tier A anchors in Y1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25880" y="269748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aggressive assumption. Anchors-first GTM + a thin Y1 surplus and a 2–3 month buffer absorb a slow start; a gentler anchor cohort cascades cleanly through the model.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2286000"/>
            <a:ext cx="3886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73752" y="246888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4873752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94960" y="239572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scarcity &amp; cash habits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394960" y="269748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transact in cash; USD is tight. Mitigation: meet them on five rails so digital is easier than cash, and recapture the sub-deposit slice the manual floor excludes.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3886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370332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363016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Currency volatility (ZWL/ZiG swings)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25880" y="393192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Local-currency margins evaporate. Mitigation: all pricing and contracts in USD; the take invoiced on USD-equivalent settled GMV.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3520440"/>
            <a:ext cx="3886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73752" y="370332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3" name="Text 21"/>
          <p:cNvSpPr/>
          <p:nvPr/>
        </p:nvSpPr>
        <p:spPr>
          <a:xfrm>
            <a:off x="4873752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94960" y="363016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Paynow dependency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394960" y="393192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settlement spine runs on Paynow; an outage stalls the core value. Mitigation: poll-URL fallback live, browser-relay bypasses the Cloudflare bot wall. Deep alignment is the mitigation and the point.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82803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PAYNOW INTERNSHIP  ·  FINAL PRESENTATION  ·  JUNE 2026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D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money. Doors and rails.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things, neither of them a cheque.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532888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your growing contacts   </a:t>
            </a:r>
            <a:endParaRPr lang="en-US" sz="1700" dirty="0"/>
          </a:p>
          <a:p>
            <a:pPr indent="0" marL="0">
              <a:buNone/>
            </a:pPr>
            <a:r>
              <a:rPr lang="en-US" sz="125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Paynow's expanding network of merchants, billers and industry relationships — as the starting point for selling this settlement engine into the livestock market. Your contacts are the doors; I do the on-the-ground operating you don't want to.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188720" y="3630168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access to the rails &amp; core infrastructure   </a:t>
            </a:r>
            <a:endParaRPr lang="en-US" sz="1700" dirty="0"/>
          </a:p>
          <a:p>
            <a:pPr indent="0" marL="0">
              <a:buNone/>
            </a:pPr>
            <a:r>
              <a:rPr lang="en-US" sz="125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me on the Paynow stack I've built ZimLivestock on — Core Express Checkout, BillPay-as-biller, EcoCash USSD, merchant transfers, SMS. The engine runs on your rails; staying plugged in is what keeps every dollar of GMV flowing onto them.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482803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ZIMLIVESTOCK  ·  PAYNOW INTERNSHIP  ·  FINAL PRESENTATION  ·  JUNE 2026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0" y="48280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D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ONE-PARAGRAPH VERSION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sat through a real sale day, found four problems the auction floor can't solve, and built a digital floor on Paynow rails that already runs in production.  </a:t>
            </a:r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turns out to be the money layer that three of four national cattle-digitization initiatives lack — the settlement, payout and title-transfer engine the identity layers plug into.  </a:t>
            </a:r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five-year plan reaches 20 houses — about a third of the market — for US$1.03M revenue and a US$346,583 cumulative surplus, self-funded, routing over US$19.5M onto Paynow rails.  </a:t>
            </a:r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 is one 90-day paid pilot to land the first anchor and prove the playbook.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software you can sell — and a business this market can actually carry.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Tatenda Nyemudzo</a:t>
            </a:r>
            <a:pPr indent="0" marL="0">
              <a:buNone/>
            </a:pPr>
            <a:r>
              <a:rPr lang="en-US" sz="1100" dirty="0">
                <a:solidFill>
                  <a:srgbClr val="BF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dev@paynow.co.zw    ·    companions: gtm-strategy.md · financial-model.xlsx · national-initiative-alignment.md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ZimLivestock — Final Internship Presentation</dc:title>
  <dc:subject>PptxGenJS Presentation</dc:subject>
  <dc:creator>Tatenda Nyemudzo</dc:creator>
  <cp:lastModifiedBy>Tatenda Nyemudzo</cp:lastModifiedBy>
  <cp:revision>1</cp:revision>
  <dcterms:created xsi:type="dcterms:W3CDTF">2026-06-05T07:02:36Z</dcterms:created>
  <dcterms:modified xsi:type="dcterms:W3CDTF">2026-06-05T07:02:36Z</dcterms:modified>
</cp:coreProperties>
</file>