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charts/chart1.xml" ContentType="application/vnd.openxmlformats-officedocument.drawingml.chart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4CC3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Year 1</c:v>
                  </c:pt>
                  <c:pt idx="1">
                    <c:v>Year 2</c:v>
                  </c:pt>
                  <c:pt idx="2">
                    <c:v>Year 3</c:v>
                  </c:pt>
                  <c:pt idx="3">
                    <c:v>Year 4</c:v>
                  </c:pt>
                  <c:pt idx="4">
                    <c:v>Year 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61636</c:v>
                </c:pt>
                <c:pt idx="1">
                  <c:v>130867</c:v>
                </c:pt>
                <c:pt idx="2">
                  <c:v>198346</c:v>
                </c:pt>
                <c:pt idx="3">
                  <c:v>277259</c:v>
                </c:pt>
                <c:pt idx="4">
                  <c:v>361695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Operating cost</c:v>
                </c:pt>
              </c:strCache>
            </c:strRef>
          </c:tx>
          <c:spPr>
            <a:solidFill>
              <a:srgbClr val="5B6B8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Year 1</c:v>
                  </c:pt>
                  <c:pt idx="1">
                    <c:v>Year 2</c:v>
                  </c:pt>
                  <c:pt idx="2">
                    <c:v>Year 3</c:v>
                  </c:pt>
                  <c:pt idx="3">
                    <c:v>Year 4</c:v>
                  </c:pt>
                  <c:pt idx="4">
                    <c:v>Year 5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48841</c:v>
                </c:pt>
                <c:pt idx="1">
                  <c:v>84274</c:v>
                </c:pt>
                <c:pt idx="2">
                  <c:v>132810</c:v>
                </c:pt>
                <c:pt idx="3">
                  <c:v>181365</c:v>
                </c:pt>
                <c:pt idx="4">
                  <c:v>235930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Operating surplus</c:v>
                </c:pt>
              </c:strCache>
            </c:strRef>
          </c:tx>
          <c:spPr>
            <a:solidFill>
              <a:srgbClr val="13BFA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Year 1</c:v>
                  </c:pt>
                  <c:pt idx="1">
                    <c:v>Year 2</c:v>
                  </c:pt>
                  <c:pt idx="2">
                    <c:v>Year 3</c:v>
                  </c:pt>
                  <c:pt idx="3">
                    <c:v>Year 4</c:v>
                  </c:pt>
                  <c:pt idx="4">
                    <c:v>Year 5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12795</c:v>
                </c:pt>
                <c:pt idx="1">
                  <c:v>46593</c:v>
                </c:pt>
                <c:pt idx="2">
                  <c:v>65536</c:v>
                </c:pt>
                <c:pt idx="3">
                  <c:v>95894</c:v>
                </c:pt>
                <c:pt idx="4">
                  <c:v>125765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1323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EEF3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13233F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EEF3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4CC3F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4CC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ZIMLIVESTOCK  ·  PAYNOW INTERNSHIP  ·  JUNE 2026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123444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EEF3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money layer for</a:t>
            </a:r>
            <a:endParaRPr lang="en-US" sz="5000" dirty="0"/>
          </a:p>
        </p:txBody>
      </p:sp>
      <p:sp>
        <p:nvSpPr>
          <p:cNvPr id="5" name="Text 3"/>
          <p:cNvSpPr/>
          <p:nvPr/>
        </p:nvSpPr>
        <p:spPr>
          <a:xfrm>
            <a:off x="640080" y="205740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i="1" dirty="0">
                <a:solidFill>
                  <a:srgbClr val="4CC3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Zimbabwe's cattle economy.</a:t>
            </a:r>
            <a:endParaRPr lang="en-US" sz="5000" dirty="0"/>
          </a:p>
        </p:txBody>
      </p:sp>
      <p:sp>
        <p:nvSpPr>
          <p:cNvPr id="6" name="Text 4"/>
          <p:cNvSpPr/>
          <p:nvPr/>
        </p:nvSpPr>
        <p:spPr>
          <a:xfrm>
            <a:off x="640080" y="3200400"/>
            <a:ext cx="7863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EC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scaling B2B-SaaS platform that digitizes livestock auction houses, settles every sale on Paynow rails, and becomes the missing settlement layer for Zimbabwe's national cattle-digitization initiatives.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448056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EF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Tatenda Nyemudzo</a:t>
            </a:r>
            <a:pPr indent="0" marL="0">
              <a:buNone/>
            </a:pPr>
            <a:r>
              <a:rPr lang="en-US" sz="1200" dirty="0">
                <a:solidFill>
                  <a:srgbClr val="AEC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dev@paynow.co.zw    ·    Field research → product → GTM → numbers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EF3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4CC3F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7589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75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WHOLE ARGUMENT, IN ONE SLIDE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41248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323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Field-validated problem. Shipped product. A national gap to fill.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640080" y="1627632"/>
            <a:ext cx="7955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sat through a real sale day, built a digital floor on Paynow rails, and found it slots exactly into the money-shaped hole in Zimbabwe's livestock-digitization stack.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2286000"/>
            <a:ext cx="18745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2286000"/>
            <a:ext cx="54864" cy="2286000"/>
          </a:xfrm>
          <a:prstGeom prst="rect">
            <a:avLst/>
          </a:prstGeom>
          <a:solidFill>
            <a:srgbClr val="175FF8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395728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5F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822960" y="2944368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findings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22960" y="3474720"/>
            <a:ext cx="1645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a full sale day at a working cattle auction — the problems that shaped every product decision.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651760" y="2286000"/>
            <a:ext cx="18745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651760" y="2286000"/>
            <a:ext cx="54864" cy="2286000"/>
          </a:xfrm>
          <a:prstGeom prst="rect">
            <a:avLst/>
          </a:prstGeom>
          <a:solidFill>
            <a:srgbClr val="175FF8"/>
          </a:solidFill>
          <a:ln/>
        </p:spPr>
      </p:sp>
      <p:sp>
        <p:nvSpPr>
          <p:cNvPr id="13" name="Text 11"/>
          <p:cNvSpPr/>
          <p:nvPr/>
        </p:nvSpPr>
        <p:spPr>
          <a:xfrm>
            <a:off x="2834640" y="2395728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5F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2834640" y="2944368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channels, shipped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834640" y="3474720"/>
            <a:ext cx="1645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Web/PWA, WhatsApp, USSD, BillPay-as-biller, Messenger — running in production on Paynow.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663440" y="2286000"/>
            <a:ext cx="18745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663440" y="2286000"/>
            <a:ext cx="54864" cy="2286000"/>
          </a:xfrm>
          <a:prstGeom prst="rect">
            <a:avLst/>
          </a:prstGeom>
          <a:solidFill>
            <a:srgbClr val="175FF8"/>
          </a:solidFill>
          <a:ln/>
        </p:spPr>
      </p:sp>
      <p:sp>
        <p:nvSpPr>
          <p:cNvPr id="18" name="Text 16"/>
          <p:cNvSpPr/>
          <p:nvPr/>
        </p:nvSpPr>
        <p:spPr>
          <a:xfrm>
            <a:off x="4846320" y="2395728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5F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of 4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4846320" y="2944368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schemes lack a money layer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46320" y="3474720"/>
            <a:ext cx="1645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Identity, title and asset layers exist. The settlement + payout engine does not. We are it.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675120" y="2286000"/>
            <a:ext cx="18745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675120" y="2286000"/>
            <a:ext cx="54864" cy="2286000"/>
          </a:xfrm>
          <a:prstGeom prst="rect">
            <a:avLst/>
          </a:prstGeom>
          <a:solidFill>
            <a:srgbClr val="175FF8"/>
          </a:solidFill>
          <a:ln/>
        </p:spPr>
      </p:sp>
      <p:sp>
        <p:nvSpPr>
          <p:cNvPr id="23" name="Text 21"/>
          <p:cNvSpPr/>
          <p:nvPr/>
        </p:nvSpPr>
        <p:spPr>
          <a:xfrm>
            <a:off x="6858000" y="2395728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5F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$19.5M</a:t>
            </a:r>
            <a:endParaRPr lang="en-US" sz="3000" dirty="0"/>
          </a:p>
        </p:txBody>
      </p:sp>
      <p:sp>
        <p:nvSpPr>
          <p:cNvPr id="24" name="Text 22"/>
          <p:cNvSpPr/>
          <p:nvPr/>
        </p:nvSpPr>
        <p:spPr>
          <a:xfrm>
            <a:off x="6858000" y="2944368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GMV onto Paynow rails (5yr)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858000" y="3474720"/>
            <a:ext cx="1645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houses, US$1.03M revenue, US$346,583 cumulative surplus — self-funded.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57200" y="4828032"/>
            <a:ext cx="7498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ZIMLIVESTOCK  ·  PAYNOW INTERNSHIP  ·  FINAL PRESENTATION  ·  JUNE 2026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4828032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29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4CC3F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914400"/>
            <a:ext cx="40233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0" b="1" dirty="0">
                <a:solidFill>
                  <a:srgbClr val="4CC3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</a:t>
            </a:r>
            <a:endParaRPr lang="en-US" sz="15000" dirty="0"/>
          </a:p>
        </p:txBody>
      </p:sp>
      <p:sp>
        <p:nvSpPr>
          <p:cNvPr id="4" name="Text 2"/>
          <p:cNvSpPr/>
          <p:nvPr/>
        </p:nvSpPr>
        <p:spPr>
          <a:xfrm>
            <a:off x="3931920" y="160020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4CC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RESEARCH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931920" y="1920240"/>
            <a:ext cx="4754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EF3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started in the field, not the codebase.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3931920" y="324612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EC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visits to a working Zimbabwean cattle auction in March 2026. Before a line of code, I learned what the auction house actually sells — and who it leaves out.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EF3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4CC3F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7589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75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OPPORTUNITY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41248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323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floor leaves money on the table every Saturday.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640080" y="1627632"/>
            <a:ext cx="7955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findings from the field, ranked by what they cost the auction-house owner.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2286000"/>
            <a:ext cx="1874520" cy="2240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2286000"/>
            <a:ext cx="54864" cy="2240280"/>
          </a:xfrm>
          <a:prstGeom prst="rect">
            <a:avLst/>
          </a:prstGeom>
          <a:solidFill>
            <a:srgbClr val="175FF8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42316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5F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US$1k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822960" y="309067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deposit gate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22960" y="3401568"/>
            <a:ext cx="1645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bidder fronts US$1,000 cash. Filters serious buyers — but locks out the salaried buyer who'd take a single goat.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651760" y="2286000"/>
            <a:ext cx="1874520" cy="2240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651760" y="2286000"/>
            <a:ext cx="54864" cy="2240280"/>
          </a:xfrm>
          <a:prstGeom prst="rect">
            <a:avLst/>
          </a:prstGeom>
          <a:solidFill>
            <a:srgbClr val="175FF8"/>
          </a:solidFill>
          <a:ln/>
        </p:spPr>
      </p:sp>
      <p:sp>
        <p:nvSpPr>
          <p:cNvPr id="13" name="Text 11"/>
          <p:cNvSpPr/>
          <p:nvPr/>
        </p:nvSpPr>
        <p:spPr>
          <a:xfrm>
            <a:off x="2834640" y="242316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5F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12%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2834640" y="309067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house fees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834640" y="3401568"/>
            <a:ext cx="1645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5% seller + 7% buyer. High enough that sub-US$500 trades route around the floor to WhatsApp groups.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663440" y="2286000"/>
            <a:ext cx="1874520" cy="2240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663440" y="2286000"/>
            <a:ext cx="54864" cy="2240280"/>
          </a:xfrm>
          <a:prstGeom prst="rect">
            <a:avLst/>
          </a:prstGeom>
          <a:solidFill>
            <a:srgbClr val="175FF8"/>
          </a:solidFill>
          <a:ln/>
        </p:spPr>
      </p:sp>
      <p:sp>
        <p:nvSpPr>
          <p:cNvPr id="18" name="Text 16"/>
          <p:cNvSpPr/>
          <p:nvPr/>
        </p:nvSpPr>
        <p:spPr>
          <a:xfrm>
            <a:off x="4846320" y="242316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5F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3400" dirty="0"/>
          </a:p>
        </p:txBody>
      </p:sp>
      <p:sp>
        <p:nvSpPr>
          <p:cNvPr id="19" name="Text 17"/>
          <p:cNvSpPr/>
          <p:nvPr/>
        </p:nvSpPr>
        <p:spPr>
          <a:xfrm>
            <a:off x="4846320" y="309067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constable bottleneck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46320" y="3401568"/>
            <a:ext cx="1645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Police clearance is paper, in-person, one officer. Physically caps how many animals clear per sale day.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675120" y="2286000"/>
            <a:ext cx="1874520" cy="2240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675120" y="2286000"/>
            <a:ext cx="54864" cy="2240280"/>
          </a:xfrm>
          <a:prstGeom prst="rect">
            <a:avLst/>
          </a:prstGeom>
          <a:solidFill>
            <a:srgbClr val="175FF8"/>
          </a:solidFill>
          <a:ln/>
        </p:spPr>
      </p:sp>
      <p:sp>
        <p:nvSpPr>
          <p:cNvPr id="23" name="Text 21"/>
          <p:cNvSpPr/>
          <p:nvPr/>
        </p:nvSpPr>
        <p:spPr>
          <a:xfrm>
            <a:off x="6858000" y="242316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5F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3400" dirty="0"/>
          </a:p>
        </p:txBody>
      </p:sp>
      <p:sp>
        <p:nvSpPr>
          <p:cNvPr id="24" name="Text 22"/>
          <p:cNvSpPr/>
          <p:nvPr/>
        </p:nvSpPr>
        <p:spPr>
          <a:xfrm>
            <a:off x="6858000" y="309067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remarketing list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858000" y="3401568"/>
            <a:ext cx="1645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90%+ of attendees are dealers, not end buyers. Every Saturday's crowd walks out with no digital footprint.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40080" y="45720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i="1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opportunity:  </a:t>
            </a:r>
            <a:pPr indent="0" marL="0">
              <a:buNone/>
            </a:pPr>
            <a:r>
              <a:rPr lang="en-US" sz="1050" i="1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auction house already owns the trust — deposit, inspection, police clearance. It just has no digital surface for it.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457200" y="4828032"/>
            <a:ext cx="7498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ZIMLIVESTOCK  ·  PAYNOW INTERNSHIP  ·  FINAL PRESENTATION  ·  JUNE 2026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8229600" y="4828032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29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EF3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4CC3F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7589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75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STRUCTURE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41248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323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Trust-compression has willingness-to-pay.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640080" y="1627632"/>
            <a:ext cx="7955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Zimbabwe's livestock trade runs through three disconnected channels. The auction floor charges 12% — and still wins higher prices, because trust is the product.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228600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75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834640" y="228600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75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MECHANISM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035040" y="22860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175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949440" y="2286000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75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FOOTPRINT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0080" y="2615184"/>
            <a:ext cx="7863840" cy="0"/>
          </a:xfrm>
          <a:prstGeom prst="line">
            <a:avLst/>
          </a:prstGeom>
          <a:noFill/>
          <a:ln w="19050">
            <a:solidFill>
              <a:srgbClr val="175FF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274320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323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Physical auction pen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834640" y="2743200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Deposit + police clearance + inspection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035040" y="2743200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12%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949440" y="2743200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Near-zero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" y="3310128"/>
            <a:ext cx="7863840" cy="0"/>
          </a:xfrm>
          <a:prstGeom prst="line">
            <a:avLst/>
          </a:prstGeom>
          <a:noFill/>
          <a:ln w="3810">
            <a:solidFill>
              <a:srgbClr val="5B6B8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3310128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323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WhatsApp / Facebook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2834640" y="3310128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reputation in closed groups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035040" y="3310128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0–3%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949440" y="3310128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Photos only, no settlement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3877056"/>
            <a:ext cx="7863840" cy="0"/>
          </a:xfrm>
          <a:prstGeom prst="line">
            <a:avLst/>
          </a:prstGeom>
          <a:noFill/>
          <a:ln w="3810">
            <a:solidFill>
              <a:srgbClr val="5B6B8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877056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323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Village / informal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2834640" y="3877056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Kinship + repeat interaction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035040" y="3877056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949440" y="3877056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N/A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40080" y="4343400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175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pricing logic for the platform:  </a:t>
            </a:r>
            <a:pPr indent="0" marL="0">
              <a:buNone/>
            </a:pPr>
            <a:r>
              <a:rPr lang="en-US" sz="1200" i="1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replicate the trust guarantees digitally at a lower fee. It's a wedge, not a race to zero — there is real headroom under 12%.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57200" y="4828032"/>
            <a:ext cx="7498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ZIMLIVESTOCK  ·  PAYNOW INTERNSHIP  ·  FINAL PRESENTATION  ·  JUNE 2026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4828032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29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EF3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4CC3F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7589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75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WEDGE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41248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323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Our market is the buyers who can't attend.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640080" y="1627632"/>
            <a:ext cx="7955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floor serves dealers in one room on one weekday. The untapped demand is everyone the deposit, the schedule, and the geography exclude.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2377440"/>
            <a:ext cx="146304" cy="146304"/>
          </a:xfrm>
          <a:prstGeom prst="ellipse">
            <a:avLst/>
          </a:prstGeom>
          <a:solidFill>
            <a:srgbClr val="4CC3FF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286000"/>
            <a:ext cx="4572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Salaried urban buyers — can't tie up US$1,000 or take a Wednesday off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40080" y="2798064"/>
            <a:ext cx="146304" cy="146304"/>
          </a:xfrm>
          <a:prstGeom prst="ellipse">
            <a:avLst/>
          </a:prstGeom>
          <a:solidFill>
            <a:srgbClr val="4CC3FF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2706624"/>
            <a:ext cx="4572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Diaspora Zimbabweans — buying cattle for family back home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0080" y="3218688"/>
            <a:ext cx="146304" cy="146304"/>
          </a:xfrm>
          <a:prstGeom prst="ellipse">
            <a:avLst/>
          </a:prstGeom>
          <a:solidFill>
            <a:srgbClr val="4CC3FF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3127248"/>
            <a:ext cx="4572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Women &amp; smallholder farmers — outside the geographic catchment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639312"/>
            <a:ext cx="146304" cy="146304"/>
          </a:xfrm>
          <a:prstGeom prst="ellipse">
            <a:avLst/>
          </a:prstGeom>
          <a:solidFill>
            <a:srgbClr val="4CC3FF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3547872"/>
            <a:ext cx="4572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butcheries — too small to send a dealer to the pen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669280" y="2240280"/>
            <a:ext cx="2880360" cy="2331720"/>
          </a:xfrm>
          <a:prstGeom prst="rect">
            <a:avLst/>
          </a:prstGeom>
          <a:solidFill>
            <a:srgbClr val="0A2540"/>
          </a:solidFill>
          <a:ln/>
        </p:spPr>
      </p:sp>
      <p:sp>
        <p:nvSpPr>
          <p:cNvPr id="15" name="Shape 13"/>
          <p:cNvSpPr/>
          <p:nvPr/>
        </p:nvSpPr>
        <p:spPr>
          <a:xfrm>
            <a:off x="5669280" y="2240280"/>
            <a:ext cx="73152" cy="2331720"/>
          </a:xfrm>
          <a:prstGeom prst="rect">
            <a:avLst/>
          </a:prstGeom>
          <a:solidFill>
            <a:srgbClr val="4CC3FF"/>
          </a:solidFill>
          <a:ln/>
        </p:spPr>
      </p:sp>
      <p:sp>
        <p:nvSpPr>
          <p:cNvPr id="16" name="Text 14"/>
          <p:cNvSpPr/>
          <p:nvPr/>
        </p:nvSpPr>
        <p:spPr>
          <a:xfrm>
            <a:off x="5897880" y="23774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4CC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LIQUIDITY BAR IS LOWER THAN IT LOOKS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897880" y="288036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EEF3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~45</a:t>
            </a:r>
            <a:endParaRPr lang="en-US" sz="4800" dirty="0"/>
          </a:p>
        </p:txBody>
      </p:sp>
      <p:sp>
        <p:nvSpPr>
          <p:cNvPr id="18" name="Text 16"/>
          <p:cNvSpPr/>
          <p:nvPr/>
        </p:nvSpPr>
        <p:spPr>
          <a:xfrm>
            <a:off x="5897880" y="365760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EC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bidders per auction — the highest bid-card observed. We don't need to fill a room of 200; we need ~45 serious bidders. That's reachable.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7200" y="4828032"/>
            <a:ext cx="7498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ZIMLIVESTOCK  ·  PAYNOW INTERNSHIP  ·  FINAL PRESENTATION  ·  JUNE 2026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8229600" y="4828032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29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4CC3F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914400"/>
            <a:ext cx="40233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0" b="1" dirty="0">
                <a:solidFill>
                  <a:srgbClr val="4CC3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II</a:t>
            </a:r>
            <a:endParaRPr lang="en-US" sz="15000" dirty="0"/>
          </a:p>
        </p:txBody>
      </p:sp>
      <p:sp>
        <p:nvSpPr>
          <p:cNvPr id="4" name="Text 2"/>
          <p:cNvSpPr/>
          <p:nvPr/>
        </p:nvSpPr>
        <p:spPr>
          <a:xfrm>
            <a:off x="3931920" y="160020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4CC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PRODUCT · LIVE DEMO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931920" y="1920240"/>
            <a:ext cx="4754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EF3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 built — and it's already running.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3931920" y="324612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EC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digital floor under the auction house's own brand, on every Paynow product, reachable on every surface a Zimbabwean buyer actually uses. Not a prototype to fund — a deployment to scale.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EF3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4CC3F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7589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75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41248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323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digital floor under the house's own brand —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640080" y="150876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175F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each house onboarded as its own isolated tenant, in minutes.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640080" y="2340864"/>
            <a:ext cx="146304" cy="146304"/>
          </a:xfrm>
          <a:prstGeom prst="ellipse">
            <a:avLst/>
          </a:prstGeom>
          <a:solidFill>
            <a:srgbClr val="4CC3FF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240280"/>
            <a:ext cx="7589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Self-serve onboarding wizard: /operators → admin approval → an RLS-isolated tenant in ~6 minutes, no SQL, no engineer on the floor.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40080" y="2752344"/>
            <a:ext cx="146304" cy="146304"/>
          </a:xfrm>
          <a:prstGeom prst="ellipse">
            <a:avLst/>
          </a:prstGeom>
          <a:solidFill>
            <a:srgbClr val="4CC3FF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2651760"/>
            <a:ext cx="7589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live channels: web/PWA, WhatsApp, USSD, BillPay-as-biller, Facebook Messenger — buyers meet us where they already transact.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0080" y="3163824"/>
            <a:ext cx="146304" cy="146304"/>
          </a:xfrm>
          <a:prstGeom prst="ellipse">
            <a:avLst/>
          </a:prstGeom>
          <a:solidFill>
            <a:srgbClr val="4CC3FF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3063240"/>
            <a:ext cx="7589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Paynow settlement, BillPay biller-inbound, EcoCash USSD, SMS notifications — every product in the ecosystem, on real rails.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575304"/>
            <a:ext cx="146304" cy="146304"/>
          </a:xfrm>
          <a:prstGeom prst="ellipse">
            <a:avLst/>
          </a:prstGeom>
          <a:solidFill>
            <a:srgbClr val="4CC3FF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3474720"/>
            <a:ext cx="7589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Bisafe escrow replaces the US$1,000 cash deposit with a small refundable hold — remote bidders become real bidders.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3986784"/>
            <a:ext cx="146304" cy="146304"/>
          </a:xfrm>
          <a:prstGeom prst="ellipse">
            <a:avLst/>
          </a:prstGeom>
          <a:solidFill>
            <a:srgbClr val="4CC3FF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3886200"/>
            <a:ext cx="7589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Constable workflow tool turns paper police clearance into a first-class chain-of-custody state, not metadata.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" y="4398264"/>
            <a:ext cx="146304" cy="146304"/>
          </a:xfrm>
          <a:prstGeom prst="ellipse">
            <a:avLst/>
          </a:prstGeom>
          <a:solidFill>
            <a:srgbClr val="4CC3FF"/>
          </a:solidFill>
          <a:ln/>
        </p:spPr>
      </p:sp>
      <p:sp>
        <p:nvSpPr>
          <p:cNvPr id="17" name="Text 15"/>
          <p:cNvSpPr/>
          <p:nvPr/>
        </p:nvSpPr>
        <p:spPr>
          <a:xfrm>
            <a:off x="914400" y="4297680"/>
            <a:ext cx="7589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buyer's phone number stays with the auction house — a remarketing list for next Saturday's sale.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457200" y="4828032"/>
            <a:ext cx="7498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ZIMLIVESTOCK  ·  PAYNOW INTERNSHIP  ·  FINAL PRESENTATION  ·  JUNE 2026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4828032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29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EF3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4CC3F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7589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75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ALREADY BUILT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41248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323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 “fund the build.” “Deploy what's running.”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640080" y="1627632"/>
            <a:ext cx="7955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product Mr. Mawere would log into next Saturday already exists in production.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2276856"/>
            <a:ext cx="219456" cy="219456"/>
          </a:xfrm>
          <a:prstGeom prst="ellipse">
            <a:avLst/>
          </a:prstGeom>
          <a:solidFill>
            <a:srgbClr val="4CC3FF"/>
          </a:solidFill>
          <a:ln w="19050">
            <a:solidFill>
              <a:srgbClr val="4CC3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2249424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05840" y="2240280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React + Supabase PWA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production, mobile-first, USSD-friendly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754880" y="2276856"/>
            <a:ext cx="219456" cy="219456"/>
          </a:xfrm>
          <a:prstGeom prst="ellipse">
            <a:avLst/>
          </a:prstGeom>
          <a:solidFill>
            <a:srgbClr val="4CC3FF"/>
          </a:solidFill>
          <a:ln w="19050">
            <a:solidFill>
              <a:srgbClr val="4CC3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54880" y="2249424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120640" y="2240280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Paynow Core Express Checkout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demoed end-to-end with real EcoCash USSD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2843784"/>
            <a:ext cx="219456" cy="219456"/>
          </a:xfrm>
          <a:prstGeom prst="ellipse">
            <a:avLst/>
          </a:prstGeom>
          <a:solidFill>
            <a:srgbClr val="4CC3FF"/>
          </a:solidFill>
          <a:ln w="19050">
            <a:solidFill>
              <a:srgbClr val="4CC3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281635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005840" y="2807208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TXT.co.zw SMS notifications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in production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754880" y="2843784"/>
            <a:ext cx="219456" cy="219456"/>
          </a:xfrm>
          <a:prstGeom prst="ellipse">
            <a:avLst/>
          </a:prstGeom>
          <a:solidFill>
            <a:srgbClr val="4CC3FF"/>
          </a:solidFill>
          <a:ln w="19050">
            <a:solidFill>
              <a:srgbClr val="4CC3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54880" y="281635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120640" y="2807208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Atomic auction-close + winner RPC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place_bid / end_expired_auctions, live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3410712"/>
            <a:ext cx="219456" cy="219456"/>
          </a:xfrm>
          <a:prstGeom prst="ellipse">
            <a:avLst/>
          </a:prstGeom>
          <a:solidFill>
            <a:srgbClr val="4CC3FF"/>
          </a:solidFill>
          <a:ln w="19050">
            <a:solidFill>
              <a:srgbClr val="4CC3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338328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005840" y="3374136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auto-buy demo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demoed to Paynow leadership 2026-05-08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4754880" y="3410712"/>
            <a:ext cx="219456" cy="219456"/>
          </a:xfrm>
          <a:prstGeom prst="ellipse">
            <a:avLst/>
          </a:prstGeom>
          <a:solidFill>
            <a:srgbClr val="4CC3FF"/>
          </a:solidFill>
          <a:ln w="19050">
            <a:solidFill>
              <a:srgbClr val="4CC3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754880" y="338328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120640" y="3374136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BillPay biller-inbound API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live; PAY round-trip awaiting creds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40080" y="3977640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5B6B8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05840" y="3941064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Bisafe escrow integration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designed, awaiting Paynow Bisafe spec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457200" y="4828032"/>
            <a:ext cx="7498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ZIMLIVESTOCK  ·  PAYNOW INTERNSHIP  ·  FINAL PRESENTATION  ·  JUNE 2026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4828032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29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4CC3F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4CC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LIVE DEMO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6868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EF3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Browse → bid → real EcoCash USSD → Paid → winner SMS.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40080" y="1481328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CC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unbroken loop, on real rails, in under 90 seconds — the proof that everything before this slide is real.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2148840"/>
            <a:ext cx="1874520" cy="1417320"/>
          </a:xfrm>
          <a:prstGeom prst="rect">
            <a:avLst/>
          </a:prstGeom>
          <a:solidFill>
            <a:srgbClr val="EEF3FF">
              <a:alpha val="12000"/>
            </a:srgbClr>
          </a:solidFill>
          <a:ln w="12700">
            <a:solidFill>
              <a:srgbClr val="4CC3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224028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CC3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804672" y="26974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EF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 a live auction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04672" y="2990088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EC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 feed → a DEMO lot ending in minutes.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651760" y="2148840"/>
            <a:ext cx="1874520" cy="1417320"/>
          </a:xfrm>
          <a:prstGeom prst="rect">
            <a:avLst/>
          </a:prstGeom>
          <a:solidFill>
            <a:srgbClr val="EEF3FF">
              <a:alpha val="12000"/>
            </a:srgbClr>
          </a:solidFill>
          <a:ln w="12700">
            <a:solidFill>
              <a:srgbClr val="4CC3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816352" y="224028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CC3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2816352" y="26974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EF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 US$0.06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816352" y="2990088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EC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penny ceiling — proves the no-minimum, sub-deposit path.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63440" y="2148840"/>
            <a:ext cx="1874520" cy="1417320"/>
          </a:xfrm>
          <a:prstGeom prst="rect">
            <a:avLst/>
          </a:prstGeom>
          <a:solidFill>
            <a:srgbClr val="EEF3FF">
              <a:alpha val="12000"/>
            </a:srgbClr>
          </a:solidFill>
          <a:ln w="12700">
            <a:solidFill>
              <a:srgbClr val="4CC3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28032" y="224028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CC3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4828032" y="26974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EF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on the phone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28032" y="2990088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EC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USSD prompt lands in 8–15s. Approve *151#.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675120" y="2148840"/>
            <a:ext cx="1874520" cy="1417320"/>
          </a:xfrm>
          <a:prstGeom prst="rect">
            <a:avLst/>
          </a:prstGeom>
          <a:solidFill>
            <a:srgbClr val="EEF3FF">
              <a:alpha val="12000"/>
            </a:srgbClr>
          </a:solidFill>
          <a:ln w="12700">
            <a:solidFill>
              <a:srgbClr val="4CC3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39712" y="224028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CC3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6839712" y="26974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EF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flips to Paid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839712" y="2990088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EC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&lt;20s — poll-sync beats the webhook.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40080" y="379476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4CC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never breaks:  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EEF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independent paths must all fail before a user sees an error — the webhook, a 20-second poll-sync, and a Cloudflare relay for when Paynow's bot wall blocks Supabase directly. Resilience is the demo.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457200" y="4828032"/>
            <a:ext cx="7498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AEC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ZIMLIVESTOCK  ·  PAYNOW INTERNSHIP  ·  FINAL PRESENTATION  ·  JUNE 2026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229600" y="4828032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EC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29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4CC3F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914400"/>
            <a:ext cx="40233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0" b="1" dirty="0">
                <a:solidFill>
                  <a:srgbClr val="4CC3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III</a:t>
            </a:r>
            <a:endParaRPr lang="en-US" sz="15000" dirty="0"/>
          </a:p>
        </p:txBody>
      </p:sp>
      <p:sp>
        <p:nvSpPr>
          <p:cNvPr id="4" name="Text 2"/>
          <p:cNvSpPr/>
          <p:nvPr/>
        </p:nvSpPr>
        <p:spPr>
          <a:xfrm>
            <a:off x="3931920" y="160020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4CC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NATIONAL GATEWAY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931920" y="1920240"/>
            <a:ext cx="4754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EF3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Zimbabwe is digitizing its cattle. Nobody is moving the money.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3931920" y="324612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EC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national initiatives are building identity, title and asset layers for livestock. None of them owns verified payment, settlement, payout, or title-transfer-on-payment. That is exactly what we built — on Paynow.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EF3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4CC3F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7589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75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NATIONAL LANDSCAPE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41248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323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initiatives. All identity, title or asset. None money.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640080" y="1627632"/>
            <a:ext cx="7955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Zimbabwe's livestock-digitization stack — who's building what, and what each layer actually provides.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224028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100" kern="0" dirty="0">
                <a:solidFill>
                  <a:srgbClr val="175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INITIATIVE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2651760" y="224028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100" kern="0" dirty="0">
                <a:solidFill>
                  <a:srgbClr val="175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 / BACKER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4754880" y="22402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100" kern="0" dirty="0">
                <a:solidFill>
                  <a:srgbClr val="175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PROVIDES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498080" y="224028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175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640080" y="2569464"/>
            <a:ext cx="7863840" cy="0"/>
          </a:xfrm>
          <a:prstGeom prst="line">
            <a:avLst/>
          </a:prstGeom>
          <a:noFill/>
          <a:ln w="19050">
            <a:solidFill>
              <a:srgbClr val="175FF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2660904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23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E-Livestock Global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651760" y="2660904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Mastercard (blockchain)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754880" y="2660904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UHF RFID ear tags — animal identity, origin, health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543800" y="2734056"/>
            <a:ext cx="914400" cy="310896"/>
          </a:xfrm>
          <a:prstGeom prst="rect">
            <a:avLst/>
          </a:prstGeom>
          <a:solidFill>
            <a:srgbClr val="175FF8"/>
          </a:solidFill>
          <a:ln/>
        </p:spPr>
      </p:sp>
      <p:sp>
        <p:nvSpPr>
          <p:cNvPr id="15" name="Text 13"/>
          <p:cNvSpPr/>
          <p:nvPr/>
        </p:nvSpPr>
        <p:spPr>
          <a:xfrm>
            <a:off x="7543800" y="2734056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EEF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640080" y="3209544"/>
            <a:ext cx="7863840" cy="0"/>
          </a:xfrm>
          <a:prstGeom prst="line">
            <a:avLst/>
          </a:prstGeom>
          <a:noFill/>
          <a:ln w="3810">
            <a:solidFill>
              <a:srgbClr val="5B6B8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3209544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23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Digital Stock Card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651760" y="3209544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Ministry of Lands &amp; Agric.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754880" y="3209544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Digitized record of ownership, health, movement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543800" y="3282696"/>
            <a:ext cx="914400" cy="310896"/>
          </a:xfrm>
          <a:prstGeom prst="rect">
            <a:avLst/>
          </a:prstGeom>
          <a:solidFill>
            <a:srgbClr val="175FF8"/>
          </a:solidFill>
          <a:ln/>
        </p:spPr>
      </p:sp>
      <p:sp>
        <p:nvSpPr>
          <p:cNvPr id="21" name="Text 19"/>
          <p:cNvSpPr/>
          <p:nvPr/>
        </p:nvSpPr>
        <p:spPr>
          <a:xfrm>
            <a:off x="7543800" y="3282696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EEF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40080" y="3758184"/>
            <a:ext cx="7863840" cy="0"/>
          </a:xfrm>
          <a:prstGeom prst="line">
            <a:avLst/>
          </a:prstGeom>
          <a:noFill/>
          <a:ln w="3810">
            <a:solidFill>
              <a:srgbClr val="5B6B8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3758184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23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Online auction networks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2651760" y="3758184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auctioneers (CC Sales)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754880" y="3758184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transaction venue — bidding per-kilogram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7543800" y="3831336"/>
            <a:ext cx="914400" cy="310896"/>
          </a:xfrm>
          <a:prstGeom prst="rect">
            <a:avLst/>
          </a:prstGeom>
          <a:solidFill>
            <a:srgbClr val="175FF8"/>
          </a:solidFill>
          <a:ln/>
        </p:spPr>
      </p:sp>
      <p:sp>
        <p:nvSpPr>
          <p:cNvPr id="27" name="Text 25"/>
          <p:cNvSpPr/>
          <p:nvPr/>
        </p:nvSpPr>
        <p:spPr>
          <a:xfrm>
            <a:off x="7543800" y="3831336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EEF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VENUE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640080" y="4306824"/>
            <a:ext cx="7863840" cy="0"/>
          </a:xfrm>
          <a:prstGeom prst="line">
            <a:avLst/>
          </a:prstGeom>
          <a:noFill/>
          <a:ln w="3810">
            <a:solidFill>
              <a:srgbClr val="5B6B8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4306824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23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Asset tokenization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2651760" y="4306824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TN Livestock Trust → VFEX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754880" y="4306824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Financialization — 1 token per kg, listed on VFEX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7543800" y="4379976"/>
            <a:ext cx="914400" cy="310896"/>
          </a:xfrm>
          <a:prstGeom prst="rect">
            <a:avLst/>
          </a:prstGeom>
          <a:solidFill>
            <a:srgbClr val="175FF8"/>
          </a:solidFill>
          <a:ln/>
        </p:spPr>
      </p:sp>
      <p:sp>
        <p:nvSpPr>
          <p:cNvPr id="33" name="Text 31"/>
          <p:cNvSpPr/>
          <p:nvPr/>
        </p:nvSpPr>
        <p:spPr>
          <a:xfrm>
            <a:off x="7543800" y="4379976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EEF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640080" y="45720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i="1" dirty="0">
                <a:solidFill>
                  <a:srgbClr val="175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structural insight:  </a:t>
            </a:r>
            <a:pPr indent="0" marL="0">
              <a:buNone/>
            </a:pPr>
            <a:r>
              <a:rPr lang="en-US" sz="1050" i="1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of four are identity / title / asset layers with no payment + settlement + payout + title-transfer engine underneath. They are the missing half of each other.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457200" y="4828032"/>
            <a:ext cx="7498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ZIMLIVESTOCK  ·  PAYNOW INTERNSHIP  ·  FINAL PRESENTATION  ·  JUNE 2026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8229600" y="4828032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29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EF3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4CC3F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7589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75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GATEWAY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41248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323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 are the rail the whole stack plugs into.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640080" y="1572768"/>
            <a:ext cx="7955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built “which animal is this and who owns it.” We built “transact, settle, pay out, and transfer title — with money attached.”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224028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· TITLE · ASSET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40080" y="2542032"/>
            <a:ext cx="228600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5B6B8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542032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E-Livestock RFID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3054096"/>
            <a:ext cx="228600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5B6B8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3054096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Stock Card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40080" y="3566160"/>
            <a:ext cx="228600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5B6B8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3566160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Per-kg auctions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4078224"/>
            <a:ext cx="228600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5B6B8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078224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VFEX tokenization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3035808" y="3063240"/>
            <a:ext cx="640080" cy="457200"/>
          </a:xfrm>
          <a:prstGeom prst="rightArrow">
            <a:avLst/>
          </a:prstGeom>
          <a:solidFill>
            <a:srgbClr val="4CC3FF"/>
          </a:solidFill>
          <a:ln/>
        </p:spPr>
      </p:sp>
      <p:sp>
        <p:nvSpPr>
          <p:cNvPr id="16" name="Shape 14"/>
          <p:cNvSpPr/>
          <p:nvPr/>
        </p:nvSpPr>
        <p:spPr>
          <a:xfrm>
            <a:off x="3794760" y="2377440"/>
            <a:ext cx="2377440" cy="1828800"/>
          </a:xfrm>
          <a:prstGeom prst="rect">
            <a:avLst/>
          </a:prstGeom>
          <a:solidFill>
            <a:srgbClr val="0A2540"/>
          </a:solidFill>
          <a:ln/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794760" y="2377440"/>
            <a:ext cx="2377440" cy="91440"/>
          </a:xfrm>
          <a:prstGeom prst="rect">
            <a:avLst/>
          </a:prstGeom>
          <a:solidFill>
            <a:srgbClr val="4CC3FF"/>
          </a:solidFill>
          <a:ln/>
        </p:spPr>
      </p:sp>
      <p:sp>
        <p:nvSpPr>
          <p:cNvPr id="18" name="Text 16"/>
          <p:cNvSpPr/>
          <p:nvPr/>
        </p:nvSpPr>
        <p:spPr>
          <a:xfrm>
            <a:off x="3886200" y="25420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EF3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ZIMLIVESTOCK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3886200" y="281635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4CC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settlement &amp; payout engine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977640" y="3154680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EC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Verified payment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3977640" y="3401568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EC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Escrow + clearance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3977640" y="3648456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EC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Seller payout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3977640" y="3895344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EC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Title transfer on settle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6263640" y="3063240"/>
            <a:ext cx="640080" cy="457200"/>
          </a:xfrm>
          <a:prstGeom prst="rightArrow">
            <a:avLst/>
          </a:prstGeom>
          <a:solidFill>
            <a:srgbClr val="4CC3FF"/>
          </a:solidFill>
          <a:ln/>
        </p:spPr>
      </p:sp>
      <p:sp>
        <p:nvSpPr>
          <p:cNvPr id="25" name="Shape 23"/>
          <p:cNvSpPr/>
          <p:nvPr/>
        </p:nvSpPr>
        <p:spPr>
          <a:xfrm>
            <a:off x="6995160" y="2697480"/>
            <a:ext cx="1554480" cy="1188720"/>
          </a:xfrm>
          <a:prstGeom prst="rect">
            <a:avLst/>
          </a:prstGeom>
          <a:solidFill>
            <a:srgbClr val="175FF8"/>
          </a:solidFill>
          <a:ln/>
        </p:spPr>
      </p:sp>
      <p:sp>
        <p:nvSpPr>
          <p:cNvPr id="26" name="Text 24"/>
          <p:cNvSpPr/>
          <p:nvPr/>
        </p:nvSpPr>
        <p:spPr>
          <a:xfrm>
            <a:off x="6995160" y="29260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EF3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PAYNOW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6995160" y="32918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EF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rails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40080" y="4434840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175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Bridge, not pivot.  </a:t>
            </a:r>
            <a:pPr indent="0" marL="0">
              <a:buNone/>
            </a:pPr>
            <a:r>
              <a:rPr lang="en-US" sz="1100" i="1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identity layers become inputs we consume, not things we rebuild — every listing carries a nationally-recognized animal ID; every settled sale can write a title-transfer event back to the registry.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57200" y="4828032"/>
            <a:ext cx="7498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ZIMLIVESTOCK  ·  PAYNOW INTERNSHIP  ·  FINAL PRESENTATION  ·  JUNE 2026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8229600" y="4828032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29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EF3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4CC3F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7589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75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MAKING ALIGNMENT TRUE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41248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323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small, additive moves — not a new company.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640080" y="1627632"/>
            <a:ext cx="7955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Ranked by leverage ÷ effort. The work that makes “we align with the national initiatives” true and demonstrable is small and builds on the live schema.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2331720"/>
            <a:ext cx="2606040" cy="2194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2331720"/>
            <a:ext cx="2606040" cy="73152"/>
          </a:xfrm>
          <a:prstGeom prst="rect">
            <a:avLst/>
          </a:prstGeom>
          <a:solidFill>
            <a:srgbClr val="4CC3FF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48716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175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1 · schema + 1 edge fn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22960" y="2761488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3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Anchor every listing on the animal-ID layer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22960" y="3401568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Promote the free-text reference to a structured animal_id / rfid_tag, validated against the E-Livestock / stock-card format. Each listing now carries a nationally-recognized ID.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383280" y="2331720"/>
            <a:ext cx="2606040" cy="2194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383280" y="2331720"/>
            <a:ext cx="2606040" cy="73152"/>
          </a:xfrm>
          <a:prstGeom prst="rect">
            <a:avLst/>
          </a:prstGeom>
          <a:solidFill>
            <a:srgbClr val="4CC3FF"/>
          </a:solidFill>
          <a:ln/>
        </p:spPr>
      </p:sp>
      <p:sp>
        <p:nvSpPr>
          <p:cNvPr id="13" name="Text 11"/>
          <p:cNvSpPr/>
          <p:nvPr/>
        </p:nvSpPr>
        <p:spPr>
          <a:xfrm>
            <a:off x="3566160" y="248716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175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2 · shape an existing table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566160" y="2761488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3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Write title-transfer back on settlement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566160" y="3401568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payment + clearance, emit an ownership-transfer event keyed to the animal ID — exactly the event the Digital Stock Card needs. Money + clearance are what actually change title.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126480" y="2331720"/>
            <a:ext cx="2606040" cy="2194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126480" y="2331720"/>
            <a:ext cx="2606040" cy="73152"/>
          </a:xfrm>
          <a:prstGeom prst="rect">
            <a:avLst/>
          </a:prstGeom>
          <a:solidFill>
            <a:srgbClr val="4CC3FF"/>
          </a:solidFill>
          <a:ln/>
        </p:spPr>
      </p:sp>
      <p:sp>
        <p:nvSpPr>
          <p:cNvPr id="18" name="Text 16"/>
          <p:cNvSpPr/>
          <p:nvPr/>
        </p:nvSpPr>
        <p:spPr>
          <a:xfrm>
            <a:off x="6309360" y="248716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175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3 · small UX / RPC change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309360" y="2761488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3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Per-kg auction mode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309360" y="3401568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weight-based bidding and A/B/C grade — the CC Sales convention. Closes the credibility gap with real auctioneers and matches how the market already prices cattle.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40080" y="45720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i="1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caveat:  </a:t>
            </a:r>
            <a:pPr indent="0" marL="0">
              <a:buNone/>
            </a:pPr>
            <a:r>
              <a:rPr lang="en-US" sz="1000" i="1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Builds 1–2 assume a data-sharing arrangement with the Ministry / E-Livestock that doesn't exist yet — a partnership ask, not a sprint. Tokenization/VFEX stays narrative color: regulated, 2–3 yr horizon.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57200" y="4828032"/>
            <a:ext cx="7498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ZIMLIVESTOCK  ·  PAYNOW INTERNSHIP  ·  FINAL PRESENTATION  ·  JUNE 2026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28032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29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4CC3F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914400"/>
            <a:ext cx="40233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0" b="1" dirty="0">
                <a:solidFill>
                  <a:srgbClr val="4CC3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IV</a:t>
            </a:r>
            <a:endParaRPr lang="en-US" sz="15000" dirty="0"/>
          </a:p>
        </p:txBody>
      </p:sp>
      <p:sp>
        <p:nvSpPr>
          <p:cNvPr id="4" name="Text 2"/>
          <p:cNvSpPr/>
          <p:nvPr/>
        </p:nvSpPr>
        <p:spPr>
          <a:xfrm>
            <a:off x="3931920" y="160020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4CC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GO-TO-MARKET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931920" y="1920240"/>
            <a:ext cx="4754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EF3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we enter — anchors first, then fill.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3931920" y="324612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EC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the scarce Tier-A houses early for GMV and credibility, then ride a self-serve wizard to ~20 houses (about a third of the market) over five years — largely self-funded.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EF3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4CC3F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7589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75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&amp; PRICING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41248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323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~40–60 houses, three tiers, priced to USD willingness-to-pay.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640080" y="1627632"/>
            <a:ext cx="7955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market segments cleanly by sale-day GMV and cadence. Each tier has a one-off onboarding fee and a monthly subscription — plus a thin 0.75% take on settled GMV across all tiers.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2331720"/>
            <a:ext cx="1965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100" kern="0" dirty="0">
                <a:solidFill>
                  <a:srgbClr val="175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2606040" y="233172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00" kern="0" dirty="0">
                <a:solidFill>
                  <a:srgbClr val="175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SALE-DAY GMV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3977640" y="2331720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00" kern="0" dirty="0">
                <a:solidFill>
                  <a:srgbClr val="175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CADENCE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212080" y="2331720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00" kern="0" dirty="0">
                <a:solidFill>
                  <a:srgbClr val="175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MKT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080760" y="2331720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00" kern="0" dirty="0">
                <a:solidFill>
                  <a:srgbClr val="175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7315200" y="233172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00" kern="0" dirty="0">
                <a:solidFill>
                  <a:srgbClr val="175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SUBSCRIPTION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40080" y="2660904"/>
            <a:ext cx="7863840" cy="0"/>
          </a:xfrm>
          <a:prstGeom prst="line">
            <a:avLst/>
          </a:prstGeom>
          <a:noFill/>
          <a:ln w="19050">
            <a:solidFill>
              <a:srgbClr val="175FF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2752344"/>
            <a:ext cx="1965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323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— Anchor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606040" y="2752344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US$80–120k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977640" y="2752344"/>
            <a:ext cx="1234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212080" y="2752344"/>
            <a:ext cx="868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~8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080760" y="2752344"/>
            <a:ext cx="1234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75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US$3,500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315200" y="2752344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75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US$1,500/mo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40080" y="3227832"/>
            <a:ext cx="7863840" cy="0"/>
          </a:xfrm>
          <a:prstGeom prst="line">
            <a:avLst/>
          </a:prstGeom>
          <a:noFill/>
          <a:ln w="3810">
            <a:solidFill>
              <a:srgbClr val="5B6B8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227832"/>
            <a:ext cx="1965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323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 — Mid-market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2606040" y="3227832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US$40–80k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3977640" y="3227832"/>
            <a:ext cx="1234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Wk–fortnight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212080" y="3227832"/>
            <a:ext cx="868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~20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080760" y="3227832"/>
            <a:ext cx="1234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75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US$2,500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7315200" y="3227832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75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US$1,200/mo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3703320"/>
            <a:ext cx="7863840" cy="0"/>
          </a:xfrm>
          <a:prstGeom prst="line">
            <a:avLst/>
          </a:prstGeom>
          <a:noFill/>
          <a:ln w="3810">
            <a:solidFill>
              <a:srgbClr val="5B6B8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3703320"/>
            <a:ext cx="1965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323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 — Small/regional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2606040" y="3703320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US$10–30k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3977640" y="3703320"/>
            <a:ext cx="1234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Fortnightly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5212080" y="3703320"/>
            <a:ext cx="868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~20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6080760" y="3703320"/>
            <a:ext cx="1234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75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US$1,500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7315200" y="3703320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75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US$900/mo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4178808"/>
            <a:ext cx="7863840" cy="0"/>
          </a:xfrm>
          <a:prstGeom prst="line">
            <a:avLst/>
          </a:prstGeom>
          <a:noFill/>
          <a:ln w="3810">
            <a:solidFill>
              <a:srgbClr val="5B6B8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4178808"/>
            <a:ext cx="1965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i="1" dirty="0">
                <a:solidFill>
                  <a:srgbClr val="1323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Pilot (any tier)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2606040" y="4178808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varies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3977640" y="4178808"/>
            <a:ext cx="1234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days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5212080" y="4178808"/>
            <a:ext cx="868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6080760" y="4178808"/>
            <a:ext cx="1234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75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US$1,000*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7315200" y="4178808"/>
            <a:ext cx="1188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75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US$1,000/mo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640080" y="45720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*Pilot deposit credited toward the full tier onboarding fee on conversion — a converting house never pays twice.  All tiers + 0.75% take on settled GMV.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457200" y="4828032"/>
            <a:ext cx="7498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ZIMLIVESTOCK  ·  PAYNOW INTERNSHIP  ·  FINAL PRESENTATION  ·  JUNE 2026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8229600" y="4828032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29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EF3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4CC3F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7589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75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GROWTH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41248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323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order is the strategy.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640080" y="1627632"/>
            <a:ext cx="7955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cannot monetize consumers before the houses bring them. Every consumer line sits strictly downstream of B2B onboarding — which is why the model leans on subscriptions early.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2331720"/>
            <a:ext cx="1874520" cy="1828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7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22960" y="2487168"/>
            <a:ext cx="457200" cy="457200"/>
          </a:xfrm>
          <a:prstGeom prst="ellipse">
            <a:avLst/>
          </a:prstGeom>
          <a:solidFill>
            <a:srgbClr val="4CC3FF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4871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25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804672" y="3035808"/>
            <a:ext cx="1581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3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Houses onboard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04672" y="3675888"/>
            <a:ext cx="1581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paying, RLS-isolated tenants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514600" y="3154680"/>
            <a:ext cx="146304" cy="256032"/>
          </a:xfrm>
          <a:prstGeom prst="rightArrow">
            <a:avLst/>
          </a:prstGeom>
          <a:solidFill>
            <a:srgbClr val="175FF8"/>
          </a:solidFill>
          <a:ln/>
        </p:spPr>
      </p:sp>
      <p:sp>
        <p:nvSpPr>
          <p:cNvPr id="12" name="Shape 10"/>
          <p:cNvSpPr/>
          <p:nvPr/>
        </p:nvSpPr>
        <p:spPr>
          <a:xfrm>
            <a:off x="2651760" y="2331720"/>
            <a:ext cx="1874520" cy="1828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7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834640" y="2487168"/>
            <a:ext cx="457200" cy="457200"/>
          </a:xfrm>
          <a:prstGeom prst="ellipse">
            <a:avLst/>
          </a:prstGeom>
          <a:solidFill>
            <a:srgbClr val="4CC3FF"/>
          </a:solidFill>
          <a:ln/>
        </p:spPr>
      </p:sp>
      <p:sp>
        <p:nvSpPr>
          <p:cNvPr id="14" name="Text 12"/>
          <p:cNvSpPr/>
          <p:nvPr/>
        </p:nvSpPr>
        <p:spPr>
          <a:xfrm>
            <a:off x="2834640" y="24871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25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816352" y="3035808"/>
            <a:ext cx="1581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3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Buyers &amp; sellers transact digitally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2816352" y="3675888"/>
            <a:ext cx="1581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settling on rails, not cash + WhatsApp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26280" y="3154680"/>
            <a:ext cx="146304" cy="256032"/>
          </a:xfrm>
          <a:prstGeom prst="rightArrow">
            <a:avLst/>
          </a:prstGeom>
          <a:solidFill>
            <a:srgbClr val="175FF8"/>
          </a:solidFill>
          <a:ln/>
        </p:spPr>
      </p:sp>
      <p:sp>
        <p:nvSpPr>
          <p:cNvPr id="18" name="Shape 16"/>
          <p:cNvSpPr/>
          <p:nvPr/>
        </p:nvSpPr>
        <p:spPr>
          <a:xfrm>
            <a:off x="4663440" y="2331720"/>
            <a:ext cx="1874520" cy="1828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7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846320" y="2487168"/>
            <a:ext cx="457200" cy="457200"/>
          </a:xfrm>
          <a:prstGeom prst="ellipse">
            <a:avLst/>
          </a:prstGeom>
          <a:solidFill>
            <a:srgbClr val="4CC3FF"/>
          </a:solidFill>
          <a:ln/>
        </p:spPr>
      </p:sp>
      <p:sp>
        <p:nvSpPr>
          <p:cNvPr id="20" name="Text 18"/>
          <p:cNvSpPr/>
          <p:nvPr/>
        </p:nvSpPr>
        <p:spPr>
          <a:xfrm>
            <a:off x="4846320" y="24871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25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4828032" y="3035808"/>
            <a:ext cx="1581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3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Delivery demand accumulates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828032" y="3675888"/>
            <a:ext cx="1581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house is negligible; twelve is a logistics book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537960" y="3154680"/>
            <a:ext cx="146304" cy="256032"/>
          </a:xfrm>
          <a:prstGeom prst="rightArrow">
            <a:avLst/>
          </a:prstGeom>
          <a:solidFill>
            <a:srgbClr val="175FF8"/>
          </a:solidFill>
          <a:ln/>
        </p:spPr>
      </p:sp>
      <p:sp>
        <p:nvSpPr>
          <p:cNvPr id="24" name="Shape 22"/>
          <p:cNvSpPr/>
          <p:nvPr/>
        </p:nvSpPr>
        <p:spPr>
          <a:xfrm>
            <a:off x="6675120" y="2331720"/>
            <a:ext cx="1874520" cy="1828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7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858000" y="2487168"/>
            <a:ext cx="457200" cy="457200"/>
          </a:xfrm>
          <a:prstGeom prst="ellipse">
            <a:avLst/>
          </a:prstGeom>
          <a:solidFill>
            <a:srgbClr val="4CC3FF"/>
          </a:solidFill>
          <a:ln/>
        </p:spPr>
      </p:sp>
      <p:sp>
        <p:nvSpPr>
          <p:cNvPr id="26" name="Text 24"/>
          <p:cNvSpPr/>
          <p:nvPr/>
        </p:nvSpPr>
        <p:spPr>
          <a:xfrm>
            <a:off x="6858000" y="24871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25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6839712" y="3035808"/>
            <a:ext cx="1581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23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Transport revenue + stickiness grow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839712" y="3675888"/>
            <a:ext cx="1581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house whose buyers get reliable delivery won't leave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40080" y="4343400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175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transport, and only transport:  </a:t>
            </a:r>
            <a:pPr indent="0" marL="0">
              <a:buNone/>
            </a:pPr>
            <a:r>
              <a:rPr lang="en-US" sz="1100" i="1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shipped (buyer checkout quote: US$15 base + US$0.35/km, capped US$250), it solves the #1 post-sale friction, and the buyer already expects to pay for delivery. We coordinate — we don't haul.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57200" y="4828032"/>
            <a:ext cx="7498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ZIMLIVESTOCK  ·  PAYNOW INTERNSHIP  ·  FINAL PRESENTATION  ·  JUNE 2026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28032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29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EF3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4CC3F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7589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75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RAMP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41248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323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 → 8 → 12 → 16 → 20 houses, anchors-first.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640080" y="1627632"/>
            <a:ext cx="7955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self-serve wizard turns each new house into a ~6-minute, admin-approved tenant — so growth rides on house count + transport, not bespoke labor. Adding the tenth house costs roughly what the second did.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237744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4CC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265176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23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Anchors signed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640080" y="3291840"/>
            <a:ext cx="2606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houses live — incl. 3 of ~8 Tier A anchors (the load-bearing bet). Wizard live: /operators → admin approval → RLS tenant.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383280" y="237744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4CC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YEARS 2–3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383280" y="265176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23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category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3383280" y="3291840"/>
            <a:ext cx="2606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→ 12 houses live. Case studies compound. Paynow's contacts become the channel that sources new houses.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126480" y="237744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4CC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YEARS 4–5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126480" y="265176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23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 houses + transport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6126480" y="3291840"/>
            <a:ext cx="2606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→ 20 live (~1/3 of the market). Consumer-transport line ramps the B2B2C upside from 1.3% to 8.8% of revenue.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40080" y="448056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5F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pPr indent="0" marL="0">
              <a:buNone/>
            </a:pPr>
            <a:r>
              <a:rPr lang="en-US" sz="1200" i="1" dirty="0">
                <a:solidFill>
                  <a:srgbClr val="1323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Paynow's growing contacts are the channel for selling this engine — and every house it sources routes its GMV onto Paynow's rails.</a:t>
            </a:r>
            <a:pPr indent="0" marL="0">
              <a:buNone/>
            </a:pPr>
            <a:r>
              <a:rPr lang="en-US" sz="2000" b="1" dirty="0">
                <a:solidFill>
                  <a:srgbClr val="175F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”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4828032"/>
            <a:ext cx="7498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ZIMLIVESTOCK  ·  PAYNOW INTERNSHIP  ·  FINAL PRESENTATION  ·  JUNE 2026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4828032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29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4CC3F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914400"/>
            <a:ext cx="40233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0" b="1" dirty="0">
                <a:solidFill>
                  <a:srgbClr val="4CC3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</a:t>
            </a:r>
            <a:endParaRPr lang="en-US" sz="15000" dirty="0"/>
          </a:p>
        </p:txBody>
      </p:sp>
      <p:sp>
        <p:nvSpPr>
          <p:cNvPr id="4" name="Text 2"/>
          <p:cNvSpPr/>
          <p:nvPr/>
        </p:nvSpPr>
        <p:spPr>
          <a:xfrm>
            <a:off x="3931920" y="160020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4CC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PREDICTIONS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931920" y="1920240"/>
            <a:ext cx="4754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EF3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honest numbers.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3931920" y="324612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EC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five-year model for a scaling B2B-SaaS platform prying open a legacy, manual, cash-based market. Surplus-positive every year. No raise — because there is nowhere in Zimbabwe to raise one.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EF3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4CC3F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7589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75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BASE CASE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41248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323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Surplus-positive from the first year.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640080" y="1627632"/>
            <a:ext cx="7955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Twenty houses live (5 → 8 → 12 → 16 → 20) over five years; the founder draws a salary inside payroll. Self-funded with a 2–3 month working-capital buffer — not a raise.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40080" y="2286000"/>
          <a:ext cx="5212080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/>
          <p:nvPr/>
        </p:nvSpPr>
        <p:spPr>
          <a:xfrm>
            <a:off x="6126480" y="233172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1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6126480" y="253288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BFA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+US$12,795</a:t>
            </a:r>
            <a:pPr indent="0" marL="0">
              <a:buNone/>
            </a:pPr>
            <a:r>
              <a:rPr lang="en-US" sz="1100" dirty="0">
                <a:solidFill>
                  <a:srgbClr val="5B6B86"/>
                </a:solidFill>
              </a:rPr>
              <a:t>  surplus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6126480" y="2862072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houses live · rev US$61,636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6126480" y="3081528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3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6126480" y="3282696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BFA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+US$65,536</a:t>
            </a:r>
            <a:pPr indent="0" marL="0">
              <a:buNone/>
            </a:pPr>
            <a:r>
              <a:rPr lang="en-US" sz="1100" dirty="0">
                <a:solidFill>
                  <a:srgbClr val="5B6B86"/>
                </a:solidFill>
              </a:rPr>
              <a:t>  surplus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6126480" y="361188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houses live · rev US$198,346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6126480" y="3831336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5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6126480" y="4032504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BFA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+US$125,765</a:t>
            </a:r>
            <a:pPr indent="0" marL="0">
              <a:buNone/>
            </a:pPr>
            <a:r>
              <a:rPr lang="en-US" sz="1100" dirty="0">
                <a:solidFill>
                  <a:srgbClr val="5B6B86"/>
                </a:solidFill>
              </a:rPr>
              <a:t>  surplus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6126480" y="4361688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houses live · rev US$361,695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640080" y="45720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i="1" dirty="0">
                <a:solidFill>
                  <a:srgbClr val="175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equity required: US$0.  </a:t>
            </a:r>
            <a:pPr indent="0" marL="0">
              <a:buNone/>
            </a:pPr>
            <a:r>
              <a:rPr lang="en-US" sz="1050" i="1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 surplus reaches US$346,583 over 5 years; the Year-1 cushion is thin (~3.5 weeks of opex), which is exactly why the buffer is non-negotiable.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457200" y="4828032"/>
            <a:ext cx="7498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ZIMLIVESTOCK  ·  PAYNOW INTERNSHIP  ·  FINAL PRESENTATION  ·  JUNE 2026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8229600" y="4828032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29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EF3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4CC3F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7589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75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BY LINE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41248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323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US$1.03M over five years — subscription is the spine.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640080" y="1627632"/>
            <a:ext cx="7955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revenue lines: three B2B today, plus a consumer-transport line that grows the upside. All figures US$.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2240280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286000" y="2240280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175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840480" y="2240280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175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3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394960" y="2240280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175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5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949440" y="2240280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175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5-yr total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40080" y="2569464"/>
            <a:ext cx="7863840" cy="0"/>
          </a:xfrm>
          <a:prstGeom prst="line">
            <a:avLst/>
          </a:prstGeom>
          <a:noFill/>
          <a:ln w="19050">
            <a:solidFill>
              <a:srgbClr val="175FF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2660904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Houses live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286000" y="2660904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1323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840480" y="2660904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1323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394960" y="2660904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1323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949440" y="2660904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75F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0080" y="2990088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286000" y="2990088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1323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$14,500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840480" y="2990088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1323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$10,000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394960" y="2990088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1323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$10,000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949440" y="2990088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75F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$52,000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40080" y="3319272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Subscription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2286000" y="3319272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1323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$39,600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3840480" y="3319272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1323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$151,200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394960" y="3319272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1323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$266,400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949440" y="3319272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75F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$766,800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40080" y="3648456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Tx take (0.75%)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2286000" y="3648456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1323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$6,710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3840480" y="3648456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1323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$27,625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394960" y="3648456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1323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$53,618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949440" y="3648456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75F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$146,258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40080" y="3977640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2286000" y="3977640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1323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$826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3840480" y="3977640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1323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$9,521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5394960" y="3977640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1323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$31,677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949440" y="3977640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75F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$64,745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40080" y="4306824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75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2286000" y="4306824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75F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$61,636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3840480" y="4306824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75F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$198,346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5394960" y="4306824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75F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$361,695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6949440" y="4306824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75F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$1,029,803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640080" y="4306824"/>
            <a:ext cx="7863840" cy="0"/>
          </a:xfrm>
          <a:prstGeom prst="line">
            <a:avLst/>
          </a:prstGeom>
          <a:noFill/>
          <a:ln w="12700">
            <a:solidFill>
              <a:srgbClr val="175FF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0080" y="45262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i="1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mix shifts B2B → B2B2C:  </a:t>
            </a:r>
            <a:pPr indent="0" marL="0">
              <a:buNone/>
            </a:pPr>
            <a:r>
              <a:rPr lang="en-US" sz="1050" i="1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98.7% auction-house / 1.3% transport in Y1 → 91.2% / 8.8% in Y5. Subscription stays ~74% of Y5 revenue — a consumer line on a B2B spine, not yet a co-equal pillar.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457200" y="4828032"/>
            <a:ext cx="7498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ZIMLIVESTOCK  ·  PAYNOW INTERNSHIP  ·  FINAL PRESENTATION  ·  JUNE 2026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8229600" y="4828032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/ 29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EF3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4CC3F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7589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75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PAYNOW UPSIDE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41248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323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dollar we move, moves on Paynow rails.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640080" y="1627632"/>
            <a:ext cx="7955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take revenue is thin by design. The GMV we route onto Paynow — and the products it activates — is the number that matters to you, and it grows fastest.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2286000"/>
            <a:ext cx="1486814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2286000"/>
            <a:ext cx="54864" cy="1371600"/>
          </a:xfrm>
          <a:prstGeom prst="rect">
            <a:avLst/>
          </a:prstGeom>
          <a:solidFill>
            <a:srgbClr val="4CC3FF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2395728"/>
            <a:ext cx="13222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Y1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68096" y="2724912"/>
            <a:ext cx="132222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5F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US$895k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68096" y="3246120"/>
            <a:ext cx="13222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Paynow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245766" y="2286000"/>
            <a:ext cx="1486814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245766" y="2286000"/>
            <a:ext cx="54864" cy="1371600"/>
          </a:xfrm>
          <a:prstGeom prst="rect">
            <a:avLst/>
          </a:prstGeom>
          <a:solidFill>
            <a:srgbClr val="4CC3FF"/>
          </a:solidFill>
          <a:ln/>
        </p:spPr>
      </p:sp>
      <p:sp>
        <p:nvSpPr>
          <p:cNvPr id="13" name="Text 11"/>
          <p:cNvSpPr/>
          <p:nvPr/>
        </p:nvSpPr>
        <p:spPr>
          <a:xfrm>
            <a:off x="2373782" y="2395728"/>
            <a:ext cx="13222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373782" y="2724912"/>
            <a:ext cx="132222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5F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US$2,463k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2373782" y="3246120"/>
            <a:ext cx="13222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Paynow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851453" y="2286000"/>
            <a:ext cx="1486814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851453" y="2286000"/>
            <a:ext cx="54864" cy="1371600"/>
          </a:xfrm>
          <a:prstGeom prst="rect">
            <a:avLst/>
          </a:prstGeom>
          <a:solidFill>
            <a:srgbClr val="4CC3FF"/>
          </a:solidFill>
          <a:ln/>
        </p:spPr>
      </p:sp>
      <p:sp>
        <p:nvSpPr>
          <p:cNvPr id="18" name="Text 16"/>
          <p:cNvSpPr/>
          <p:nvPr/>
        </p:nvSpPr>
        <p:spPr>
          <a:xfrm>
            <a:off x="3979469" y="2395728"/>
            <a:ext cx="13222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979469" y="2724912"/>
            <a:ext cx="132222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5F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US$3,683k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3979469" y="3246120"/>
            <a:ext cx="13222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Paynow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457139" y="2286000"/>
            <a:ext cx="1486814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5457139" y="2286000"/>
            <a:ext cx="54864" cy="1371600"/>
          </a:xfrm>
          <a:prstGeom prst="rect">
            <a:avLst/>
          </a:prstGeom>
          <a:solidFill>
            <a:srgbClr val="4CC3FF"/>
          </a:solidFill>
          <a:ln/>
        </p:spPr>
      </p:sp>
      <p:sp>
        <p:nvSpPr>
          <p:cNvPr id="23" name="Text 21"/>
          <p:cNvSpPr/>
          <p:nvPr/>
        </p:nvSpPr>
        <p:spPr>
          <a:xfrm>
            <a:off x="5585155" y="2395728"/>
            <a:ext cx="13222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Y4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585155" y="2724912"/>
            <a:ext cx="132222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5F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US$5,311k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5585155" y="3246120"/>
            <a:ext cx="13222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Paynow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7062826" y="2286000"/>
            <a:ext cx="1486814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7062826" y="2286000"/>
            <a:ext cx="54864" cy="1371600"/>
          </a:xfrm>
          <a:prstGeom prst="rect">
            <a:avLst/>
          </a:prstGeom>
          <a:solidFill>
            <a:srgbClr val="4CC3FF"/>
          </a:solidFill>
          <a:ln/>
        </p:spPr>
      </p:sp>
      <p:sp>
        <p:nvSpPr>
          <p:cNvPr id="28" name="Text 26"/>
          <p:cNvSpPr/>
          <p:nvPr/>
        </p:nvSpPr>
        <p:spPr>
          <a:xfrm>
            <a:off x="7190842" y="2395728"/>
            <a:ext cx="13222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Y5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7190842" y="2724912"/>
            <a:ext cx="132222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5F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US$7,149k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7190842" y="3246120"/>
            <a:ext cx="13222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Paynow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640080" y="3767328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i="1" dirty="0">
                <a:solidFill>
                  <a:srgbClr val="175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5-year GMV onto Paynow rails:  </a:t>
            </a:r>
            <a:pPr indent="0" marL="0">
              <a:buNone/>
            </a:pPr>
            <a:r>
              <a:rPr lang="en-US" sz="1150" i="1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US$19,501,000 (over US$19.5M).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640080" y="411480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175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 THIS PUTS TO WORK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40080" y="4389120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Express Checkout  ·  Bisafe escrow  ·  BillPay-as-biller  ·  EcoCash USSD  ·  merchant transfers  ·  SMS notifications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457200" y="4828032"/>
            <a:ext cx="7498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ZIMLIVESTOCK  ·  PAYNOW INTERNSHIP  ·  FINAL PRESENTATION  ·  JUNE 2026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8229600" y="4828032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/ 29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EF3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4CC3F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7589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75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COULD KILL THIS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41248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323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real risks, each with a mitigation we've chosen.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640080" y="1627632"/>
            <a:ext cx="7955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about the things that don't show up in a first-world model.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2286000"/>
            <a:ext cx="3886200" cy="1097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7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04672" y="2468880"/>
            <a:ext cx="384048" cy="384048"/>
          </a:xfrm>
          <a:prstGeom prst="ellipse">
            <a:avLst/>
          </a:prstGeom>
          <a:solidFill>
            <a:srgbClr val="175FF8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468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EF3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325880" y="2395728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323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Landing 3 of ~8 Tier A anchors in Y1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1325880" y="2697480"/>
            <a:ext cx="3063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aggressive assumption. Anchors-first GTM + a thin Y1 surplus and a 2–3 month buffer absorb a slow start; a gentler anchor cohort cascades cleanly through the model.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709160" y="2286000"/>
            <a:ext cx="3886200" cy="1097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7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873752" y="2468880"/>
            <a:ext cx="384048" cy="384048"/>
          </a:xfrm>
          <a:prstGeom prst="ellipse">
            <a:avLst/>
          </a:prstGeom>
          <a:solidFill>
            <a:srgbClr val="175FF8"/>
          </a:solidFill>
          <a:ln/>
        </p:spPr>
      </p:sp>
      <p:sp>
        <p:nvSpPr>
          <p:cNvPr id="13" name="Text 11"/>
          <p:cNvSpPr/>
          <p:nvPr/>
        </p:nvSpPr>
        <p:spPr>
          <a:xfrm>
            <a:off x="4873752" y="2468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EF3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394960" y="2395728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323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USD scarcity &amp; cash habits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5394960" y="2697480"/>
            <a:ext cx="3063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Buyers transact in cash; USD is tight. Mitigation: meet them on five rails so digital is easier than cash, and recapture the sub-deposit slice the manual floor excludes.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40080" y="3520440"/>
            <a:ext cx="3886200" cy="1097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7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04672" y="3703320"/>
            <a:ext cx="384048" cy="384048"/>
          </a:xfrm>
          <a:prstGeom prst="ellipse">
            <a:avLst/>
          </a:prstGeom>
          <a:solidFill>
            <a:srgbClr val="175FF8"/>
          </a:solidFill>
          <a:ln/>
        </p:spPr>
      </p:sp>
      <p:sp>
        <p:nvSpPr>
          <p:cNvPr id="18" name="Text 16"/>
          <p:cNvSpPr/>
          <p:nvPr/>
        </p:nvSpPr>
        <p:spPr>
          <a:xfrm>
            <a:off x="804672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EF3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325880" y="3630168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323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Currency volatility (ZWL/ZiG swings)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1325880" y="3931920"/>
            <a:ext cx="3063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Local-currency margins evaporate. Mitigation: all pricing and contracts in USD; the take invoiced on USD-equivalent settled GMV.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709160" y="3520440"/>
            <a:ext cx="3886200" cy="1097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7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873752" y="3703320"/>
            <a:ext cx="384048" cy="384048"/>
          </a:xfrm>
          <a:prstGeom prst="ellipse">
            <a:avLst/>
          </a:prstGeom>
          <a:solidFill>
            <a:srgbClr val="175FF8"/>
          </a:solidFill>
          <a:ln/>
        </p:spPr>
      </p:sp>
      <p:sp>
        <p:nvSpPr>
          <p:cNvPr id="23" name="Text 21"/>
          <p:cNvSpPr/>
          <p:nvPr/>
        </p:nvSpPr>
        <p:spPr>
          <a:xfrm>
            <a:off x="4873752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EF3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5394960" y="3630168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323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Paynow dependency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5394960" y="3931920"/>
            <a:ext cx="3063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settlement spine runs on Paynow; an outage stalls the core value. Mitigation: poll-URL fallback live, browser-relay bypasses the Cloudflare bot wall. Deep alignment is the mitigation and the point.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57200" y="4828032"/>
            <a:ext cx="7498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ZIMLIVESTOCK  ·  PAYNOW INTERNSHIP  ·  FINAL PRESENTATION  ·  JUNE 2026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4828032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/ 29</a:t>
            </a:r>
            <a:endParaRPr lang="en-US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4CC3F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914400"/>
            <a:ext cx="40233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0" b="1" dirty="0">
                <a:solidFill>
                  <a:srgbClr val="4CC3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</a:t>
            </a:r>
            <a:endParaRPr lang="en-US" sz="15000" dirty="0"/>
          </a:p>
        </p:txBody>
      </p:sp>
      <p:sp>
        <p:nvSpPr>
          <p:cNvPr id="4" name="Text 2"/>
          <p:cNvSpPr/>
          <p:nvPr/>
        </p:nvSpPr>
        <p:spPr>
          <a:xfrm>
            <a:off x="3931920" y="160020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4CC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PAYNOW RETURN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931920" y="1920240"/>
            <a:ext cx="4754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EF3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this internship is worth to Paynow.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3931920" y="324612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EC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a product built on your rails: a flagship vertical, ~US$19.5M of GMV onto Paynow, and a developer-experience audit that makes the gateway easier for the next builder to adopt.</a:t>
            </a:r>
            <a:endParaRPr lang="en-US" sz="13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EF3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4CC3F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7589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75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VALUE PROPOSITION FOR PAYNOW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41248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323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ZimLivestock is a win for Paynow.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40080" y="1783080"/>
            <a:ext cx="7955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take is thin by design. The value to Paynow is the GMV, the vertical and the network it activates — not the 0.75% we charge the house.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2286000"/>
            <a:ext cx="187452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2286000"/>
            <a:ext cx="54864" cy="2011680"/>
          </a:xfrm>
          <a:prstGeom prst="rect">
            <a:avLst/>
          </a:prstGeom>
          <a:solidFill>
            <a:srgbClr val="175FF8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395728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5F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$19.5M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822960" y="2980944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GMV onto your rails (5yr)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22960" y="3456432"/>
            <a:ext cx="1645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Livestock settlement routed through Core Express Checkout, BillPay, EcoCash USSD &amp; merchant transfers — volume that is cash today.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651760" y="2286000"/>
            <a:ext cx="187452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651760" y="2286000"/>
            <a:ext cx="54864" cy="2011680"/>
          </a:xfrm>
          <a:prstGeom prst="rect">
            <a:avLst/>
          </a:prstGeom>
          <a:solidFill>
            <a:srgbClr val="175FF8"/>
          </a:solidFill>
          <a:ln/>
        </p:spPr>
      </p:sp>
      <p:sp>
        <p:nvSpPr>
          <p:cNvPr id="13" name="Text 11"/>
          <p:cNvSpPr/>
          <p:nvPr/>
        </p:nvSpPr>
        <p:spPr>
          <a:xfrm>
            <a:off x="2834640" y="2395728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5F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2834640" y="2980944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 live in production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834640" y="3456432"/>
            <a:ext cx="1645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flagship reference deployment proving the Paynow ecosystem composes into a real, paying business — not a demo.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663440" y="2286000"/>
            <a:ext cx="187452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663440" y="2286000"/>
            <a:ext cx="54864" cy="2011680"/>
          </a:xfrm>
          <a:prstGeom prst="rect">
            <a:avLst/>
          </a:prstGeom>
          <a:solidFill>
            <a:srgbClr val="175FF8"/>
          </a:solidFill>
          <a:ln/>
        </p:spPr>
      </p:sp>
      <p:sp>
        <p:nvSpPr>
          <p:cNvPr id="18" name="Text 16"/>
          <p:cNvSpPr/>
          <p:nvPr/>
        </p:nvSpPr>
        <p:spPr>
          <a:xfrm>
            <a:off x="4846320" y="2395728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5F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40–60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4846320" y="2980944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merchant category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46320" y="3456432"/>
            <a:ext cx="1645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Auction houses are a class Paynow doesn't serve today. Each house onboarded is a new recurring biller + settlement account.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675120" y="2286000"/>
            <a:ext cx="187452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675120" y="2286000"/>
            <a:ext cx="54864" cy="2011680"/>
          </a:xfrm>
          <a:prstGeom prst="rect">
            <a:avLst/>
          </a:prstGeom>
          <a:solidFill>
            <a:srgbClr val="175FF8"/>
          </a:solidFill>
          <a:ln/>
        </p:spPr>
      </p:sp>
      <p:sp>
        <p:nvSpPr>
          <p:cNvPr id="23" name="Text 21"/>
          <p:cNvSpPr/>
          <p:nvPr/>
        </p:nvSpPr>
        <p:spPr>
          <a:xfrm>
            <a:off x="6858000" y="2395728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5FF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6858000" y="2980944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DX fixes delivered as feedback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858000" y="3456432"/>
            <a:ext cx="1645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full developer-experience benchmark vs Stripe, Paystack, Flutterwave &amp; Pesepay — the next integrator's path made shorter.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640080" y="44805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i="1" dirty="0">
                <a:solidFill>
                  <a:srgbClr val="175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strategic fit:  </a:t>
            </a:r>
            <a:pPr indent="0" marL="0">
              <a:buNone/>
            </a:pPr>
            <a:r>
              <a:rPr lang="en-US" sz="1000" i="1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Paynow's growing contacts open the doors; ZimLivestock does the on-the-ground operating — and every dollar it settles flows onto Paynow rails.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57200" y="4828032"/>
            <a:ext cx="7498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ZIMLIVESTOCK  ·  PAYNOW INTERNSHIP  ·  FINAL PRESENTATION  ·  JUNE 2026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8229600" y="4828032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/ 29</a:t>
            </a:r>
            <a:endParaRPr lang="en-US" sz="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EEF3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4CC3F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7589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75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EXPERIENCE BENCHMARK · FINDINGS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41248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323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also stress-tested your front door.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40080" y="1627632"/>
            <a:ext cx="7955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weeks integrating Paynow with no SDK, benchmarked against four global gateways — the honest scorecard, and what Paynow already does better than anyone in this market.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2084832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5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DX: 2.3 / 5</a:t>
            </a:r>
            <a:pPr indent="0" marL="0">
              <a:buNone/>
            </a:pPr>
            <a:r>
              <a:rPr lang="en-US" sz="120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— Stripe 4.8 · Paystack 4.2 · Flutterwave 3.5 (same framework)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8716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Documentation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331720" y="2532888"/>
            <a:ext cx="1783080" cy="146304"/>
          </a:xfrm>
          <a:prstGeom prst="rect">
            <a:avLst/>
          </a:prstGeom>
          <a:solidFill>
            <a:srgbClr val="D6E0F2"/>
          </a:solidFill>
          <a:ln/>
        </p:spPr>
      </p:sp>
      <p:sp>
        <p:nvSpPr>
          <p:cNvPr id="9" name="Shape 7"/>
          <p:cNvSpPr/>
          <p:nvPr/>
        </p:nvSpPr>
        <p:spPr>
          <a:xfrm>
            <a:off x="2331720" y="2532888"/>
            <a:ext cx="891540" cy="146304"/>
          </a:xfrm>
          <a:prstGeom prst="rect">
            <a:avLst/>
          </a:prstGeom>
          <a:solidFill>
            <a:srgbClr val="175FF8"/>
          </a:solidFill>
          <a:ln/>
        </p:spPr>
      </p:sp>
      <p:sp>
        <p:nvSpPr>
          <p:cNvPr id="10" name="Text 8"/>
          <p:cNvSpPr/>
          <p:nvPr/>
        </p:nvSpPr>
        <p:spPr>
          <a:xfrm>
            <a:off x="4206240" y="248716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2.5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798064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simplicity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2331720" y="2843784"/>
            <a:ext cx="1783080" cy="146304"/>
          </a:xfrm>
          <a:prstGeom prst="rect">
            <a:avLst/>
          </a:prstGeom>
          <a:solidFill>
            <a:srgbClr val="D6E0F2"/>
          </a:solidFill>
          <a:ln/>
        </p:spPr>
      </p:sp>
      <p:sp>
        <p:nvSpPr>
          <p:cNvPr id="13" name="Shape 11"/>
          <p:cNvSpPr/>
          <p:nvPr/>
        </p:nvSpPr>
        <p:spPr>
          <a:xfrm>
            <a:off x="2331720" y="2843784"/>
            <a:ext cx="713232" cy="146304"/>
          </a:xfrm>
          <a:prstGeom prst="rect">
            <a:avLst/>
          </a:prstGeom>
          <a:solidFill>
            <a:srgbClr val="175FF8"/>
          </a:solidFill>
          <a:ln/>
        </p:spPr>
      </p:sp>
      <p:sp>
        <p:nvSpPr>
          <p:cNvPr id="14" name="Text 12"/>
          <p:cNvSpPr/>
          <p:nvPr/>
        </p:nvSpPr>
        <p:spPr>
          <a:xfrm>
            <a:off x="4206240" y="279806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2.0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40080" y="310896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messages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2331720" y="3154680"/>
            <a:ext cx="1783080" cy="146304"/>
          </a:xfrm>
          <a:prstGeom prst="rect">
            <a:avLst/>
          </a:prstGeom>
          <a:solidFill>
            <a:srgbClr val="D6E0F2"/>
          </a:solidFill>
          <a:ln/>
        </p:spPr>
      </p:sp>
      <p:sp>
        <p:nvSpPr>
          <p:cNvPr id="17" name="Shape 15"/>
          <p:cNvSpPr/>
          <p:nvPr/>
        </p:nvSpPr>
        <p:spPr>
          <a:xfrm>
            <a:off x="2331720" y="3154680"/>
            <a:ext cx="534924" cy="146304"/>
          </a:xfrm>
          <a:prstGeom prst="rect">
            <a:avLst/>
          </a:prstGeom>
          <a:solidFill>
            <a:srgbClr val="E5484D"/>
          </a:solidFill>
          <a:ln/>
        </p:spPr>
      </p:sp>
      <p:sp>
        <p:nvSpPr>
          <p:cNvPr id="18" name="Text 16"/>
          <p:cNvSpPr/>
          <p:nvPr/>
        </p:nvSpPr>
        <p:spPr>
          <a:xfrm>
            <a:off x="4206240" y="310896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640080" y="341985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accessibility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2331720" y="3465576"/>
            <a:ext cx="1783080" cy="146304"/>
          </a:xfrm>
          <a:prstGeom prst="rect">
            <a:avLst/>
          </a:prstGeom>
          <a:solidFill>
            <a:srgbClr val="D6E0F2"/>
          </a:solidFill>
          <a:ln/>
        </p:spPr>
      </p:sp>
      <p:sp>
        <p:nvSpPr>
          <p:cNvPr id="21" name="Shape 19"/>
          <p:cNvSpPr/>
          <p:nvPr/>
        </p:nvSpPr>
        <p:spPr>
          <a:xfrm>
            <a:off x="2331720" y="3465576"/>
            <a:ext cx="356616" cy="146304"/>
          </a:xfrm>
          <a:prstGeom prst="rect">
            <a:avLst/>
          </a:prstGeom>
          <a:solidFill>
            <a:srgbClr val="E5484D"/>
          </a:solidFill>
          <a:ln/>
        </p:spPr>
      </p:sp>
      <p:sp>
        <p:nvSpPr>
          <p:cNvPr id="22" name="Text 20"/>
          <p:cNvSpPr/>
          <p:nvPr/>
        </p:nvSpPr>
        <p:spPr>
          <a:xfrm>
            <a:off x="4206240" y="3419856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640080" y="373075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SDK quality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2331720" y="3776472"/>
            <a:ext cx="1783080" cy="146304"/>
          </a:xfrm>
          <a:prstGeom prst="rect">
            <a:avLst/>
          </a:prstGeom>
          <a:solidFill>
            <a:srgbClr val="D6E0F2"/>
          </a:solidFill>
          <a:ln/>
        </p:spPr>
      </p:sp>
      <p:sp>
        <p:nvSpPr>
          <p:cNvPr id="25" name="Shape 23"/>
          <p:cNvSpPr/>
          <p:nvPr/>
        </p:nvSpPr>
        <p:spPr>
          <a:xfrm>
            <a:off x="2331720" y="3776472"/>
            <a:ext cx="891540" cy="146304"/>
          </a:xfrm>
          <a:prstGeom prst="rect">
            <a:avLst/>
          </a:prstGeom>
          <a:solidFill>
            <a:srgbClr val="175FF8"/>
          </a:solidFill>
          <a:ln/>
        </p:spPr>
      </p:sp>
      <p:sp>
        <p:nvSpPr>
          <p:cNvPr id="26" name="Text 24"/>
          <p:cNvSpPr/>
          <p:nvPr/>
        </p:nvSpPr>
        <p:spPr>
          <a:xfrm>
            <a:off x="4206240" y="3730752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2.5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640080" y="404164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Sandbox / testing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2331720" y="4087368"/>
            <a:ext cx="1783080" cy="146304"/>
          </a:xfrm>
          <a:prstGeom prst="rect">
            <a:avLst/>
          </a:prstGeom>
          <a:solidFill>
            <a:srgbClr val="D6E0F2"/>
          </a:solidFill>
          <a:ln/>
        </p:spPr>
      </p:sp>
      <p:sp>
        <p:nvSpPr>
          <p:cNvPr id="29" name="Shape 27"/>
          <p:cNvSpPr/>
          <p:nvPr/>
        </p:nvSpPr>
        <p:spPr>
          <a:xfrm>
            <a:off x="2331720" y="4087368"/>
            <a:ext cx="1248156" cy="146304"/>
          </a:xfrm>
          <a:prstGeom prst="rect">
            <a:avLst/>
          </a:prstGeom>
          <a:solidFill>
            <a:srgbClr val="13BFA3"/>
          </a:solidFill>
          <a:ln/>
        </p:spPr>
      </p:sp>
      <p:sp>
        <p:nvSpPr>
          <p:cNvPr id="30" name="Text 28"/>
          <p:cNvSpPr/>
          <p:nvPr/>
        </p:nvSpPr>
        <p:spPr>
          <a:xfrm>
            <a:off x="4206240" y="4041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3.5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40080" y="4352544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 speed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2331720" y="4398264"/>
            <a:ext cx="1783080" cy="146304"/>
          </a:xfrm>
          <a:prstGeom prst="rect">
            <a:avLst/>
          </a:prstGeom>
          <a:solidFill>
            <a:srgbClr val="D6E0F2"/>
          </a:solidFill>
          <a:ln/>
        </p:spPr>
      </p:sp>
      <p:sp>
        <p:nvSpPr>
          <p:cNvPr id="33" name="Shape 31"/>
          <p:cNvSpPr/>
          <p:nvPr/>
        </p:nvSpPr>
        <p:spPr>
          <a:xfrm>
            <a:off x="2331720" y="4398264"/>
            <a:ext cx="1069848" cy="146304"/>
          </a:xfrm>
          <a:prstGeom prst="rect">
            <a:avLst/>
          </a:prstGeom>
          <a:solidFill>
            <a:srgbClr val="13BFA3"/>
          </a:solidFill>
          <a:ln/>
        </p:spPr>
      </p:sp>
      <p:sp>
        <p:nvSpPr>
          <p:cNvPr id="34" name="Text 32"/>
          <p:cNvSpPr/>
          <p:nvPr/>
        </p:nvSpPr>
        <p:spPr>
          <a:xfrm>
            <a:off x="4206240" y="435254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3.0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5074920" y="2395728"/>
            <a:ext cx="3474720" cy="2212848"/>
          </a:xfrm>
          <a:prstGeom prst="rect">
            <a:avLst/>
          </a:prstGeom>
          <a:solidFill>
            <a:srgbClr val="0A2540"/>
          </a:solidFill>
          <a:ln/>
        </p:spPr>
      </p:sp>
      <p:sp>
        <p:nvSpPr>
          <p:cNvPr id="36" name="Shape 34"/>
          <p:cNvSpPr/>
          <p:nvPr/>
        </p:nvSpPr>
        <p:spPr>
          <a:xfrm>
            <a:off x="5074920" y="2395728"/>
            <a:ext cx="73152" cy="2212848"/>
          </a:xfrm>
          <a:prstGeom prst="rect">
            <a:avLst/>
          </a:prstGeom>
          <a:solidFill>
            <a:srgbClr val="4CC3FF"/>
          </a:solidFill>
          <a:ln/>
        </p:spPr>
      </p:sp>
      <p:sp>
        <p:nvSpPr>
          <p:cNvPr id="37" name="Text 35"/>
          <p:cNvSpPr/>
          <p:nvPr/>
        </p:nvSpPr>
        <p:spPr>
          <a:xfrm>
            <a:off x="5285232" y="2505456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4CC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PAYNOW ALREADY WINS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5303520" y="2852928"/>
            <a:ext cx="91440" cy="91440"/>
          </a:xfrm>
          <a:prstGeom prst="ellipse">
            <a:avLst/>
          </a:prstGeom>
          <a:solidFill>
            <a:srgbClr val="4CC3FF"/>
          </a:solidFill>
          <a:ln/>
        </p:spPr>
      </p:sp>
      <p:sp>
        <p:nvSpPr>
          <p:cNvPr id="39" name="Text 37"/>
          <p:cNvSpPr/>
          <p:nvPr/>
        </p:nvSpPr>
        <p:spPr>
          <a:xfrm>
            <a:off x="5486400" y="2798064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70" dirty="0">
                <a:solidFill>
                  <a:srgbClr val="AEC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Widest local coverage — EcoCash, OneMoney, InnBucks, O'mari, Zimswitch, Visa/MC</a:t>
            </a:r>
            <a:endParaRPr lang="en-US" sz="870" dirty="0"/>
          </a:p>
        </p:txBody>
      </p:sp>
      <p:sp>
        <p:nvSpPr>
          <p:cNvPr id="40" name="Shape 38"/>
          <p:cNvSpPr/>
          <p:nvPr/>
        </p:nvSpPr>
        <p:spPr>
          <a:xfrm>
            <a:off x="5303520" y="3209544"/>
            <a:ext cx="91440" cy="91440"/>
          </a:xfrm>
          <a:prstGeom prst="ellipse">
            <a:avLst/>
          </a:prstGeom>
          <a:solidFill>
            <a:srgbClr val="4CC3FF"/>
          </a:solidFill>
          <a:ln/>
        </p:spPr>
      </p:sp>
      <p:sp>
        <p:nvSpPr>
          <p:cNvPr id="41" name="Text 39"/>
          <p:cNvSpPr/>
          <p:nvPr/>
        </p:nvSpPr>
        <p:spPr>
          <a:xfrm>
            <a:off x="5486400" y="3154680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70" dirty="0">
                <a:solidFill>
                  <a:srgbClr val="AEC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BuySafe escrow built in — Stripe charges extra; Paystack has none</a:t>
            </a:r>
            <a:endParaRPr lang="en-US" sz="870" dirty="0"/>
          </a:p>
        </p:txBody>
      </p:sp>
      <p:sp>
        <p:nvSpPr>
          <p:cNvPr id="42" name="Shape 40"/>
          <p:cNvSpPr/>
          <p:nvPr/>
        </p:nvSpPr>
        <p:spPr>
          <a:xfrm>
            <a:off x="5303520" y="3566160"/>
            <a:ext cx="91440" cy="91440"/>
          </a:xfrm>
          <a:prstGeom prst="ellipse">
            <a:avLst/>
          </a:prstGeom>
          <a:solidFill>
            <a:srgbClr val="4CC3FF"/>
          </a:solidFill>
          <a:ln/>
        </p:spPr>
      </p:sp>
      <p:sp>
        <p:nvSpPr>
          <p:cNvPr id="43" name="Text 41"/>
          <p:cNvSpPr/>
          <p:nvPr/>
        </p:nvSpPr>
        <p:spPr>
          <a:xfrm>
            <a:off x="5486400" y="3511296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70" dirty="0">
                <a:solidFill>
                  <a:srgbClr val="AEC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Realistic test mode — success / delayed / cancelled / insufficient</a:t>
            </a:r>
            <a:endParaRPr lang="en-US" sz="870" dirty="0"/>
          </a:p>
        </p:txBody>
      </p:sp>
      <p:sp>
        <p:nvSpPr>
          <p:cNvPr id="44" name="Shape 42"/>
          <p:cNvSpPr/>
          <p:nvPr/>
        </p:nvSpPr>
        <p:spPr>
          <a:xfrm>
            <a:off x="5303520" y="3922776"/>
            <a:ext cx="91440" cy="91440"/>
          </a:xfrm>
          <a:prstGeom prst="ellipse">
            <a:avLst/>
          </a:prstGeom>
          <a:solidFill>
            <a:srgbClr val="4CC3FF"/>
          </a:solidFill>
          <a:ln/>
        </p:spPr>
      </p:sp>
      <p:sp>
        <p:nvSpPr>
          <p:cNvPr id="45" name="Text 43"/>
          <p:cNvSpPr/>
          <p:nvPr/>
        </p:nvSpPr>
        <p:spPr>
          <a:xfrm>
            <a:off x="5486400" y="3867912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70" dirty="0">
                <a:solidFill>
                  <a:srgbClr val="AEC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BillPay Vendor API is genuinely well-designed (AUTH→PAY, JSON)</a:t>
            </a:r>
            <a:endParaRPr lang="en-US" sz="870" dirty="0"/>
          </a:p>
        </p:txBody>
      </p:sp>
      <p:sp>
        <p:nvSpPr>
          <p:cNvPr id="46" name="Shape 44"/>
          <p:cNvSpPr/>
          <p:nvPr/>
        </p:nvSpPr>
        <p:spPr>
          <a:xfrm>
            <a:off x="5303520" y="4279392"/>
            <a:ext cx="91440" cy="91440"/>
          </a:xfrm>
          <a:prstGeom prst="ellipse">
            <a:avLst/>
          </a:prstGeom>
          <a:solidFill>
            <a:srgbClr val="4CC3FF"/>
          </a:solidFill>
          <a:ln/>
        </p:spPr>
      </p:sp>
      <p:sp>
        <p:nvSpPr>
          <p:cNvPr id="47" name="Text 45"/>
          <p:cNvSpPr/>
          <p:nvPr/>
        </p:nvSpPr>
        <p:spPr>
          <a:xfrm>
            <a:off x="5486400" y="4224528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70" dirty="0">
                <a:solidFill>
                  <a:srgbClr val="AEC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minimum fees — works for micro-transactions</a:t>
            </a:r>
            <a:endParaRPr lang="en-US" sz="870" dirty="0"/>
          </a:p>
        </p:txBody>
      </p:sp>
      <p:sp>
        <p:nvSpPr>
          <p:cNvPr id="48" name="Text 46"/>
          <p:cNvSpPr/>
          <p:nvPr/>
        </p:nvSpPr>
        <p:spPr>
          <a:xfrm>
            <a:off x="457200" y="4828032"/>
            <a:ext cx="7498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ZIMLIVESTOCK  ·  PAYNOW INTERNSHIP  ·  FINAL PRESENTATION  ·  JUNE 2026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28032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/ 29</a:t>
            </a:r>
            <a:endParaRPr lang="en-US" sz="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EEF3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4CC3F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57200"/>
            <a:ext cx="7589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75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EXPERIENCE BENCHMARK · SOLUTIONS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841248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323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Nine recommendations, ranked by severity.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640080" y="1627632"/>
            <a:ext cx="7955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issue I hit became a concrete, defensible fix. The report is a gift to whoever builds on Paynow next.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2176272"/>
            <a:ext cx="7863840" cy="512064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12700" dir="5400000">
              <a:srgbClr val="000000">
                <a:alpha val="7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77240" y="2286000"/>
            <a:ext cx="1097280" cy="329184"/>
          </a:xfrm>
          <a:prstGeom prst="rect">
            <a:avLst/>
          </a:prstGeom>
          <a:solidFill>
            <a:srgbClr val="E5484D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2286000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· 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2057400" y="2176272"/>
            <a:ext cx="6309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the API off the bot-walled www domain — host it on api.paynow.co.zw with no Cloudflare challenge. </a:t>
            </a:r>
            <a:pPr indent="0" marL="0">
              <a:buNone/>
            </a:pPr>
            <a:r>
              <a:rPr lang="en-US" sz="100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exactly why the live demo routes through a browser-relay.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0080" y="2761488"/>
            <a:ext cx="7863840" cy="512064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12700" dir="5400000">
              <a:srgbClr val="000000">
                <a:alpha val="7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777240" y="2871216"/>
            <a:ext cx="1097280" cy="329184"/>
          </a:xfrm>
          <a:prstGeom prst="rect">
            <a:avLst/>
          </a:prstGeom>
          <a:solidFill>
            <a:srgbClr val="175FF8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2871216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· 3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057400" y="2761488"/>
            <a:ext cx="6309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 JSON alongside form-encoding · Document the hash field-order explicitly · Return structured error codes — today one “Invalid Hash” hides five different root causes.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40080" y="3346704"/>
            <a:ext cx="7863840" cy="512064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12700" dir="5400000">
              <a:srgbClr val="000000">
                <a:alpha val="7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77240" y="3456432"/>
            <a:ext cx="1097280" cy="329184"/>
          </a:xfrm>
          <a:prstGeom prst="rect">
            <a:avLst/>
          </a:prstGeom>
          <a:solidFill>
            <a:srgbClr val="4CC3FF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345643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 · 4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057400" y="3346704"/>
            <a:ext cx="6309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express-checkout examples · A status page + webhook delivery logs · Publish an OpenAPI spec · Make the Node &amp; Java SDKs behave identically.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40080" y="3931920"/>
            <a:ext cx="7863840" cy="512064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12700" dir="5400000">
              <a:srgbClr val="000000">
                <a:alpha val="7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77240" y="4041648"/>
            <a:ext cx="1097280" cy="329184"/>
          </a:xfrm>
          <a:prstGeom prst="rect">
            <a:avLst/>
          </a:prstGeom>
          <a:solidFill>
            <a:srgbClr val="5B6B86"/>
          </a:solidFill>
          <a:ln/>
        </p:spPr>
      </p:sp>
      <p:sp>
        <p:nvSpPr>
          <p:cNvPr id="20" name="Text 18"/>
          <p:cNvSpPr/>
          <p:nvPr/>
        </p:nvSpPr>
        <p:spPr>
          <a:xfrm>
            <a:off x="777240" y="4041648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· 1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057400" y="3931920"/>
            <a:ext cx="6309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3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 test-mode docs — team testing, webhook testing and a go-live checklist.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40080" y="4535424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i="1" dirty="0">
                <a:solidFill>
                  <a:srgbClr val="175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 </a:t>
            </a:r>
            <a:pPr indent="0" marL="0">
              <a:buNone/>
            </a:pPr>
            <a:r>
              <a:rPr lang="en-US" sz="950" i="1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Paynow DX scored 2.3/5 — but every gap is fixable, and most are documentation, not architecture. Full report: paynow-dx-recommendations.md.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57200" y="4828032"/>
            <a:ext cx="7498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ZIMLIVESTOCK  ·  PAYNOW INTERNSHIP  ·  FINAL PRESENTATION  ·  JUNE 2026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229600" y="4828032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B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/ 29</a:t>
            </a:r>
            <a:endParaRPr lang="en-US" sz="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4CC3F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4CC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96012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EF3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 money. Doors and rails.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17830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4CC3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things, neither of them a cheque.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640080" y="251460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CC3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188720" y="2532888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EF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to your growing contacts   </a:t>
            </a:r>
            <a:endParaRPr lang="en-US" sz="1700" dirty="0"/>
          </a:p>
          <a:p>
            <a:pPr indent="0" marL="0">
              <a:buNone/>
            </a:pPr>
            <a:r>
              <a:rPr lang="en-US" sz="1250" dirty="0">
                <a:solidFill>
                  <a:srgbClr val="AEC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Paynow's expanding network of merchants, billers and industry relationships — as the starting point for selling this settlement engine into the livestock market. Your contacts are the doors; I do the on-the-ground operating you don't want to.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640080" y="361188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CC3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1188720" y="3630168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EF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Continued access to the rails &amp; core infrastructure   </a:t>
            </a:r>
            <a:endParaRPr lang="en-US" sz="1700" dirty="0"/>
          </a:p>
          <a:p>
            <a:pPr indent="0" marL="0">
              <a:buNone/>
            </a:pPr>
            <a:r>
              <a:rPr lang="en-US" sz="1250" dirty="0">
                <a:solidFill>
                  <a:srgbClr val="AEC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me on the Paynow stack I've built ZimLivestock on — Core Express Checkout, BillPay-as-biller, EcoCash USSD, merchant transfers, SMS. The engine runs on your rails; staying plugged in is what keeps every dollar of GMV flowing onto them.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457200" y="4828032"/>
            <a:ext cx="7498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AEC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ZIMLIVESTOCK  ·  PAYNOW INTERNSHIP  ·  FINAL PRESENTATION  ·  JUNE 2026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8229600" y="4828032"/>
            <a:ext cx="548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EC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/ 29</a:t>
            </a:r>
            <a:endParaRPr lang="en-US" sz="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4CC3F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4CC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ONE-PARAGRAPH VERSION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78638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600" dirty="0">
                <a:solidFill>
                  <a:srgbClr val="EEF3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sat through a real sale day, found four problems the auction floor can't solve, and built a digital floor on Paynow rails that already runs in production.  </a:t>
            </a:r>
            <a:pPr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4CC3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 turns out to be the money layer that three of four national cattle-digitization initiatives lack — the settlement, payout and title-transfer engine the identity layers plug into.  </a:t>
            </a:r>
            <a:pPr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600" dirty="0">
                <a:solidFill>
                  <a:srgbClr val="EEF3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five-year plan reaches 20 houses — about a third of the market — for US$1.03M revenue and a US$346,583 cumulative surplus, self-funded, routing over US$19.5M onto Paynow rails.  </a:t>
            </a:r>
            <a:pPr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4CC3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ask is one 90-day paid pilot to land the first anchor and prove the playbook.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i="1" dirty="0">
                <a:solidFill>
                  <a:srgbClr val="4CC3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software you can sell — and a business this market can actually carry.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452628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EF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Tatenda Nyemudzo</a:t>
            </a:r>
            <a:pPr indent="0" marL="0">
              <a:buNone/>
            </a:pPr>
            <a:r>
              <a:rPr lang="en-US" sz="1100" dirty="0">
                <a:solidFill>
                  <a:srgbClr val="AEC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dev@paynow.co.zw    ·    companions: gtm-strategy.md · financial-model.xlsx · national-initiative-alignment.md · paynow-dx-recommendations.md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ZimLivestock — Final Internship Presentation</dc:title>
  <dc:subject>PptxGenJS Presentation</dc:subject>
  <dc:creator>Tatenda Nyemudzo</dc:creator>
  <cp:lastModifiedBy>Tatenda Nyemudzo</cp:lastModifiedBy>
  <cp:revision>1</cp:revision>
  <dcterms:created xsi:type="dcterms:W3CDTF">2026-06-05T09:01:42Z</dcterms:created>
  <dcterms:modified xsi:type="dcterms:W3CDTF">2026-06-05T09:01:42Z</dcterms:modified>
</cp:coreProperties>
</file>