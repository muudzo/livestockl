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CC3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61636</c:v>
                </c:pt>
                <c:pt idx="1">
                  <c:v>130867</c:v>
                </c:pt>
                <c:pt idx="2">
                  <c:v>198346</c:v>
                </c:pt>
                <c:pt idx="3">
                  <c:v>277259</c:v>
                </c:pt>
                <c:pt idx="4">
                  <c:v>361695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cost</c:v>
                </c:pt>
              </c:strCache>
            </c:strRef>
          </c:tx>
          <c:spPr>
            <a:solidFill>
              <a:srgbClr val="5B6B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48841</c:v>
                </c:pt>
                <c:pt idx="1">
                  <c:v>84274</c:v>
                </c:pt>
                <c:pt idx="2">
                  <c:v>132810</c:v>
                </c:pt>
                <c:pt idx="3">
                  <c:v>181365</c:v>
                </c:pt>
                <c:pt idx="4">
                  <c:v>235930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Operating surplus</c:v>
                </c:pt>
              </c:strCache>
            </c:strRef>
          </c:tx>
          <c:spPr>
            <a:solidFill>
              <a:srgbClr val="13BF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12795</c:v>
                </c:pt>
                <c:pt idx="1">
                  <c:v>46593</c:v>
                </c:pt>
                <c:pt idx="2">
                  <c:v>65536</c:v>
                </c:pt>
                <c:pt idx="3">
                  <c:v>95894</c:v>
                </c:pt>
                <c:pt idx="4">
                  <c:v>125765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323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EF3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3233F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JUNE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money layer for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i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Zimbabwe's cattle economy.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scaling B2B-SaaS platform that digitizes livestock auction houses, settles every sale on Paynow rails, and becomes the missing settlement layer for Zimbabwe's national cattle-digitization initiatives.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2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    ·    Field research → product → GTM → numbers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ARGUMENT, IN ONE SLIDE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Field-validated problem. Shipped product. A national gap to fill.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sat through a real sale day, built a digital floor on Paynow rails, and found it slots exactly into the money-shaped hole in Zimbabwe's livestock-digitization stack.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228600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2296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findings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full sale day at a working cattle auction — the problems that shaped every product decision.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5176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2286000"/>
            <a:ext cx="54864" cy="228600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83464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channels, shipped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Web/PWA, WhatsApp, USSD, BillPay-as-biller, Messenger — running in production on Paynow.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286000"/>
            <a:ext cx="54864" cy="228600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of 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84632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schemes lack a money layer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title and asset layers exist. The settlement + payout engine does not. We are it.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7512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75120" y="2286000"/>
            <a:ext cx="54864" cy="228600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$19.5M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685800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onto Paynow rails (5yr)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houses, US$1.03M revenue, US$346,583 cumulative surplus — self-funded.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RESEARCH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started in the field, not the codebase.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visits to a working Zimbabwean cattle auction in March 2026. Before a line of code, I learned what the auction house actually sells — and who it leaves out.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floor leaves money on the table every Saturday.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findings from the field, ranked by what they cost the auction-house owner.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22402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US$1k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2296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gate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bidder fronts US$1,000 cash. Filters serious buyers — but locks out the salaried buyer who'd take a single goat.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5176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2286000"/>
            <a:ext cx="54864" cy="22402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83464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fees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seller + 7% buyer. High enough that sub-US$500 trades route around the floor to WhatsApp groups.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286000"/>
            <a:ext cx="54864" cy="22402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84632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constable bottleneck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clearance is paper, in-person, one officer. Physically caps how many animals clear per sale day.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7512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75120" y="2286000"/>
            <a:ext cx="54864" cy="22402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685800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 list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90%+ of attendees are dealers, not end buyers. Every Saturday's crowd walks out with no digital footprint.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opportunity:  </a:t>
            </a:r>
            <a:pPr indent="0" marL="0">
              <a:buNone/>
            </a:pPr>
            <a:r>
              <a:rPr lang="en-US" sz="10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auction house already owns the trust — deposit, inspection, police clearance. It just has no digital surface for it.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STRUCTURE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Trust-compression has willingness-to-pay.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Zimbabwe's livestock trade runs through three disconnected channels. The auction floor charges 12% — and still wins higher prices, because trust is the product.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834640" y="2286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MECHANISM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35040" y="22860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949440" y="22860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FOOTPRINT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15184"/>
            <a:ext cx="7863840" cy="0"/>
          </a:xfrm>
          <a:prstGeom prst="line">
            <a:avLst/>
          </a:prstGeom>
          <a:noFill/>
          <a:ln w="19050">
            <a:solidFill>
              <a:srgbClr val="175F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43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Physical auction pen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27432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+ police clearance + inspection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274320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49440" y="27432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310128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31012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 / Facebook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34640" y="331012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reputation in closed groups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35040" y="331012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49440" y="331012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only, no settlement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877056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770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Village / informal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834640" y="387705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Kinship + repeat interaction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35040" y="38770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49440" y="387705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3434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pricing logic for the platform:  </a:t>
            </a:r>
            <a:pPr indent="0" marL="0">
              <a:buNone/>
            </a:pPr>
            <a:r>
              <a:rPr lang="en-US" sz="120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the trust guarantees digitally at a lower fee. It's a wedge, not a race to zero — there is real headroom under 12%.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market is the buyers who can't attend.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serves dealers in one room on one weekday. The untapped demand is everyone the deposit, the schedule, and the geography exclude.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8600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Salaried urban buyers — can't tie up US$1,000 or take a Wednesday off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9806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706624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Zimbabweans — buying cattle for family back home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218688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127248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&amp; smallholder farmers — outside the geographic catchment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39312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54787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butcheries — too small to send a dealer to the pen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0" y="2240280"/>
            <a:ext cx="2880360" cy="233172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0" y="2240280"/>
            <a:ext cx="73152" cy="233172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LIQUIDITY BAR IS LOWER THAN IT LOOKS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97880" y="28803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~45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5897880" y="3657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bidders per auction — the highest bid-card observed. We don't need to fill a room of 200; we need ~45 serious bidders. That's reachable.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· LIVE DEMO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built — and it's already running.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floor under the auction house's own brand, on every Paynow product, reachable on every surface a Zimbabwean buyer actually uses. Not a prototype to fund — a deployment to scale.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digital floor under the house's own brand —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house onboarded as its own isolated tenant, in minutes.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34086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onboarding wizard: /operators → admin approval → an RLS-isolated tenant in ~6 minutes, no SQL, no engineer on the floor.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5234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517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live channels: web/PWA, WhatsApp, USSD, BillPay-as-biller, Facebook Messenger — buyers meet us where they already transact.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6382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632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settlement, BillPay biller-inbound, EcoCash USSD, SMS notifications — every product in the ecosystem, on real rails.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7530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4747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Bisafe escrow replaces the US$1,000 cash deposit with a small refundable hold — remote bidders become real bidders.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8678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8862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Constable workflow tool turns paper police clearance into a first-class chain-of-custody state, not metadata.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9826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2976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buyer's phone number stays with the auction house — a remarketing list for next Saturday's sale.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ALREADY BUILT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“fund the build.” “Deploy what's running.”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Mr. Mawere would log into next Saturday already exists in production.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76856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2494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24028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React + Supabase PWA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production, mobile-first, USSD-friendly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2276856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22494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224028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Core Express Checkout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demoed end-to-end with real EcoCash USSD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843784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816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8072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TXT.co.zw SMS notifications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0" y="2843784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816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28072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auction-close + winner RPC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place_bid / end_expired_auctions, live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410712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383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337413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auto-buy demo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demoed to Paynow leadership 2026-05-08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0" y="3410712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383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37413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 biller-inbound API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live; PAY round-trip awaiting creds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397764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6B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94106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Bisafe escrow integration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awaiting Paynow Bisafe spec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 → bid → real EcoCash USSD → Paid → winner SMS.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unbroken loop, on real rails, in under 90 seconds — the proof that everything before this slide is real.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874520" cy="1417320"/>
          </a:xfrm>
          <a:prstGeom prst="rect">
            <a:avLst/>
          </a:prstGeom>
          <a:solidFill>
            <a:srgbClr val="EEF3FF">
              <a:alpha val="12000"/>
            </a:srgbClr>
          </a:solidFill>
          <a:ln w="12700">
            <a:solidFill>
              <a:srgbClr val="4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live auction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feed → a DEMO lot ending in minutes.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2148840"/>
            <a:ext cx="1874520" cy="1417320"/>
          </a:xfrm>
          <a:prstGeom prst="rect">
            <a:avLst/>
          </a:prstGeom>
          <a:solidFill>
            <a:srgbClr val="EEF3FF">
              <a:alpha val="12000"/>
            </a:srgbClr>
          </a:solidFill>
          <a:ln w="12700">
            <a:solidFill>
              <a:srgbClr val="4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81635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US$0.06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1635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penny ceiling — proves the no-minimum, sub-deposit path.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1874520" cy="1417320"/>
          </a:xfrm>
          <a:prstGeom prst="rect">
            <a:avLst/>
          </a:prstGeom>
          <a:solidFill>
            <a:srgbClr val="EEF3FF">
              <a:alpha val="12000"/>
            </a:srgbClr>
          </a:solidFill>
          <a:ln w="12700">
            <a:solidFill>
              <a:srgbClr val="4CC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82803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on the phone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2803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USSD prompt lands in 8–15s. Approve *151#.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75120" y="2148840"/>
            <a:ext cx="1874520" cy="1417320"/>
          </a:xfrm>
          <a:prstGeom prst="rect">
            <a:avLst/>
          </a:prstGeom>
          <a:solidFill>
            <a:srgbClr val="EEF3FF">
              <a:alpha val="12000"/>
            </a:srgbClr>
          </a:solidFill>
          <a:ln w="12700">
            <a:solidFill>
              <a:srgbClr val="4CC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971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83971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flips to Paid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3971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&lt;20s — poll-sync beats the webhook.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794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never breaks: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paths must all fail before a user sees an error — the webhook, a 20-second poll-sync, and a Cloudflare relay for when Paynow's bot wall blocks Supabase directly. Resilience is the demo.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GATEWAY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 is digitizing its cattle. Nobody is moving the money.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national initiatives are building identity, title and asset layers for livestock. None of them owns verified payment, settlement, payout, or title-transfer-on-payment. That is exactly what we built — on Paynow.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LANDSCAPE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initiatives. All identity, title or asset. None money.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Zimbabwe's livestock-digitization stack — who's building what, and what each layer actually provides.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651760" y="22402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/ BACKER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54880" y="2240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PROVIDES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498080" y="2240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2569464"/>
            <a:ext cx="7863840" cy="0"/>
          </a:xfrm>
          <a:prstGeom prst="line">
            <a:avLst/>
          </a:prstGeom>
          <a:noFill/>
          <a:ln w="19050">
            <a:solidFill>
              <a:srgbClr val="175F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6090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E-Livestock Global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51760" y="26609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 (blockchain)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0" y="26609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UHF RFID ear tags — animal identity, origin, health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43800" y="2734056"/>
            <a:ext cx="914400" cy="310896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5" name="Text 13"/>
          <p:cNvSpPr/>
          <p:nvPr/>
        </p:nvSpPr>
        <p:spPr>
          <a:xfrm>
            <a:off x="7543800" y="273405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" y="3209544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095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Stock Card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651760" y="320954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of Lands &amp; Agric.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32095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Digitized record of ownership, health, movement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3282696"/>
            <a:ext cx="914400" cy="310896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1" name="Text 19"/>
          <p:cNvSpPr/>
          <p:nvPr/>
        </p:nvSpPr>
        <p:spPr>
          <a:xfrm>
            <a:off x="7543800" y="328269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40080" y="3758184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5818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auction networks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651760" y="375818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auctioneers (CC Sales)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375818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transaction venue — bidding per-kilogram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543800" y="3831336"/>
            <a:ext cx="914400" cy="310896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7" name="Text 25"/>
          <p:cNvSpPr/>
          <p:nvPr/>
        </p:nvSpPr>
        <p:spPr>
          <a:xfrm>
            <a:off x="7543800" y="38313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40080" y="4306824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306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Asset tokenization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651760" y="43068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 Livestock Trust → VFEX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430682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Financialization — 1 token per kg, listed on VFEX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543800" y="4379976"/>
            <a:ext cx="914400" cy="310896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33" name="Text 31"/>
          <p:cNvSpPr/>
          <p:nvPr/>
        </p:nvSpPr>
        <p:spPr>
          <a:xfrm>
            <a:off x="7543800" y="437997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insight:  </a:t>
            </a:r>
            <a:pPr indent="0" marL="0">
              <a:buNone/>
            </a:pPr>
            <a:r>
              <a:rPr lang="en-US" sz="105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four are identity / title / asset layers with no payment + settlement + payout + title-transfer engine underneath. They are the missing half of each other.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the rail the whole stack plugs into.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built “which animal is this and who owns it.” We built “transact, settle, pay out, and transfer title — with money attached.”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TITLE · ASSET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542032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5B6B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4203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E-Livestock RFID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054096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5B6B8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0540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Stock Card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566160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5B6B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661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Per-kg auctions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078224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5B6B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7822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VFEX tokenization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035808" y="3063240"/>
            <a:ext cx="640080" cy="457200"/>
          </a:xfrm>
          <a:prstGeom prst="rightArrow">
            <a:avLst/>
          </a:prstGeom>
          <a:solidFill>
            <a:srgbClr val="4CC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3794760" y="2377440"/>
            <a:ext cx="2377440" cy="1828800"/>
          </a:xfrm>
          <a:prstGeom prst="rect">
            <a:avLst/>
          </a:prstGeom>
          <a:solidFill>
            <a:srgbClr val="0A2540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794760" y="2377440"/>
            <a:ext cx="2377440" cy="9144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8" name="Text 16"/>
          <p:cNvSpPr/>
          <p:nvPr/>
        </p:nvSpPr>
        <p:spPr>
          <a:xfrm>
            <a:off x="388620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ZIMLIVESTOCK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86200" y="2816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&amp; payout engine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77640" y="31546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Verified payment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977640" y="34015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Escrow + clearance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977640" y="36484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Seller payout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895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Title transfer on settle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63640" y="3063240"/>
            <a:ext cx="640080" cy="457200"/>
          </a:xfrm>
          <a:prstGeom prst="rightArrow">
            <a:avLst/>
          </a:prstGeom>
          <a:solidFill>
            <a:srgbClr val="4CC3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95160" y="2697480"/>
            <a:ext cx="1554480" cy="118872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6" name="Text 24"/>
          <p:cNvSpPr/>
          <p:nvPr/>
        </p:nvSpPr>
        <p:spPr>
          <a:xfrm>
            <a:off x="6995160" y="2926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PAYNOW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995160" y="3291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rails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44348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Bridge, not pivot.  </a:t>
            </a:r>
            <a:pPr indent="0" marL="0">
              <a:buNone/>
            </a:pPr>
            <a:r>
              <a:rPr lang="en-US" sz="110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identity layers become inputs we consume, not things we rebuild — every listing carries a nationally-recognized animal ID; every settled sale can write a title-transfer event back to the registry.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ALIGNMENT TRUE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small, additive moves — not a new company.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leverage ÷ effort. The work that makes “we align with the national initiatives” true and demonstrable is small and builds on the live schema.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2606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31720"/>
            <a:ext cx="2606040" cy="73152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1 · schema + 1 edge fn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76148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 every listing on the animal-ID layer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401568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the free-text reference to a structured animal_id / rfid_tag, validated against the E-Livestock / stock-card format. Each listing now carries a nationally-recognized ID.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2331720"/>
            <a:ext cx="2606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2331720"/>
            <a:ext cx="2606040" cy="73152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2 · shape an existing table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66160" y="276148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title-transfer back on settlement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66160" y="3401568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payment + clearance, emit an ownership-transfer event keyed to the animal ID — exactly the event the Digital Stock Card needs. Money + clearance are what actually change title.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26480" y="2331720"/>
            <a:ext cx="2606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331720"/>
            <a:ext cx="2606040" cy="73152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 · small UX / RPC change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276148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Per-kg auction mode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09360" y="3401568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weight-based bidding and A/B/C grade — the CC Sales convention. Closes the credibility gap with real auctioneers and matches how the market already prices cattle.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 </a:t>
            </a:r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1–2 assume a data-sharing arrangement with the Ministry / E-Livestock that doesn't exist yet — a partnership ask, not a sprint. Tokenization/VFEX stays narrative color: regulated, 2–3 yr horizon.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enter — anchors first, then fill.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scarce Tier-A houses early for GMV and credibility, then ride a self-serve wizard to ~20 houses (about a third of the market) over five years — largely self-funded.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&amp; PRICING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~40–60 houses, three tiers, priced to USD willingness-to-pay.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segments cleanly by sale-day GMV and cadence. Each tier has a one-off onboarding fee and a monthly subscription — plus a thin 0.75% take on settled GMV across all tiers.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606040" y="23317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SALE-DAY GMV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977640" y="2331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212080" y="23317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MKT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080760" y="2331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0" y="2331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660904"/>
            <a:ext cx="7863840" cy="0"/>
          </a:xfrm>
          <a:prstGeom prst="line">
            <a:avLst/>
          </a:prstGeom>
          <a:noFill/>
          <a:ln w="19050">
            <a:solidFill>
              <a:srgbClr val="175F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52344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— Anchor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06040" y="275234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US$80–120k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977640" y="2752344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212080" y="275234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80760" y="2752344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US$3,500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0" y="275234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US$1,500/mo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227832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22783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— Mid-market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06040" y="322783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US$40–80k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977640" y="322783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Wk–fortnight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0" y="322783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080760" y="322783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US$2,500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0" y="32278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US$1,200/mo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3703320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70332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— Small/regional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606040" y="370332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US$10–30k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977640" y="370332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Fortnightly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212080" y="370332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080760" y="370332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US$1,500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370332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US$900/mo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4178808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178808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(any tier)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606040" y="41788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977640" y="417880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212080" y="417880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080760" y="417880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US$1,000*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315200" y="417880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US$1,000/mo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*Pilot deposit credited toward the full tier onboarding fee on conversion — a converting house never pays twice.  All tiers + 0.75% take on settled GMV.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GROWTH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order is the strategy.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monetize consumers before the houses bring them. Every consumer line sits strictly downstream of B2B onboarding — which is why the model leans on subscriptions early.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487168"/>
            <a:ext cx="457200" cy="45720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0467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Houses onboard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paying, RLS-isolated tenants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4600" y="3154680"/>
            <a:ext cx="146304" cy="256032"/>
          </a:xfrm>
          <a:prstGeom prst="rightArrow">
            <a:avLst/>
          </a:prstGeom>
          <a:solidFill>
            <a:srgbClr val="175FF8"/>
          </a:solidFill>
          <a:ln/>
        </p:spPr>
      </p:sp>
      <p:sp>
        <p:nvSpPr>
          <p:cNvPr id="12" name="Shape 10"/>
          <p:cNvSpPr/>
          <p:nvPr/>
        </p:nvSpPr>
        <p:spPr>
          <a:xfrm>
            <a:off x="265176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834640" y="2487168"/>
            <a:ext cx="457200" cy="45720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1635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Buyers &amp; sellers transact digitally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1635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settling on rails, not cash + WhatsApp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26280" y="3154680"/>
            <a:ext cx="146304" cy="256032"/>
          </a:xfrm>
          <a:prstGeom prst="rightArrow">
            <a:avLst/>
          </a:prstGeom>
          <a:solidFill>
            <a:srgbClr val="175FF8"/>
          </a:solidFill>
          <a:ln/>
        </p:spPr>
      </p:sp>
      <p:sp>
        <p:nvSpPr>
          <p:cNvPr id="18" name="Shape 16"/>
          <p:cNvSpPr/>
          <p:nvPr/>
        </p:nvSpPr>
        <p:spPr>
          <a:xfrm>
            <a:off x="466344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487168"/>
            <a:ext cx="457200" cy="45720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82803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 demand accumulates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2803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house is negligible; twelve is a logistics book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37960" y="3154680"/>
            <a:ext cx="146304" cy="256032"/>
          </a:xfrm>
          <a:prstGeom prst="rightArrow">
            <a:avLst/>
          </a:prstGeom>
          <a:solidFill>
            <a:srgbClr val="175F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67512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58000" y="2487168"/>
            <a:ext cx="457200" cy="45720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3971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Transport revenue + stickiness grow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3971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 whose buyers get reliable delivery won't leave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3434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transport, and only transport:  </a:t>
            </a:r>
            <a:pPr indent="0" marL="0">
              <a:buNone/>
            </a:pPr>
            <a:r>
              <a:rPr lang="en-US" sz="110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shipped (buyer checkout quote: US$15 base + US$0.35/km, capped US$250), it solves the #1 post-sale friction, and the buyer already expects to pay for delivery. We coordinate — we don't haul.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RAMP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→ 8 → 12 → 16 → 20 houses, anchors-first.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self-serve wizard turns each new house into a ~6-minute, admin-approved tenant — so growth rides on house count + transport, not bespoke labor. Adding the tenth house costs roughly what the second did.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Anchors signed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houses live — incl. 3 of ~8 Tier A anchors (the load-bearing bet). Wizard live: /operators → admin approval → RLS tenant.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383280" y="2377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2–3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0" y="2651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category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3832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→ 12 houses live. Case studies compound. Paynow's contacts become the channel that sources new houses.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26480" y="2377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4–5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26480" y="2651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houses + transport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1264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→ 20 live (~1/3 of the market). Consumer-transport line ramps the B2B2C upside from 1.3% to 8.8% of revenue.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200" i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Paynow's growing contacts are the channel for selling this engine — and every house it sources routes its GMV onto Paynow's rails.</a:t>
            </a:r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PREDICTIONS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numbers.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five-year model for a scaling B2B-SaaS platform prying open a legacy, manual, cash-based market. Surplus-positive every year. No raise — because there is nowhere in Zimbabwe to raise one.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Surplus-positive from the first year.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houses live (5 → 8 → 12 → 16 → 20) over five years; the founder draws a salary inside payroll. Self-funded with a 2–3 month working-capital buffer — not a raise.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286000"/>
          <a:ext cx="52120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12648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532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BF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+US$12,795</a:t>
            </a:r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</a:rPr>
              <a:t>  surplus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126480" y="2862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houses live · rev US$61,636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126480" y="30815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126480" y="32826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BF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+US$65,536</a:t>
            </a:r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</a:rPr>
              <a:t>  surplus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126480" y="36118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houses live · rev US$198,346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126480" y="383133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0325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BF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+US$125,765</a:t>
            </a:r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</a:rPr>
              <a:t>  surplus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126480" y="43616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houses live · rev US$361,695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equity required: US$0.  </a:t>
            </a:r>
            <a:pPr indent="0" marL="0">
              <a:buNone/>
            </a:pPr>
            <a:r>
              <a:rPr lang="en-US" sz="10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surplus reaches US$346,583 over 5 years; the Year-1 cushion is thin (~3.5 weeks of opex), which is exactly why the buffer is non-negotiable.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US$1.03M over five years — subscription is the spine.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revenue lines: three B2B today, plus a consumer-transport line that grows the upside. All figures US$.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9496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94944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5-yr total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569464"/>
            <a:ext cx="7863840" cy="0"/>
          </a:xfrm>
          <a:prstGeom prst="line">
            <a:avLst/>
          </a:prstGeom>
          <a:noFill/>
          <a:ln w="19050">
            <a:solidFill>
              <a:srgbClr val="175F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6090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 live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8600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$14,500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$10,000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$10,000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944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$52,000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33192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$39,600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$151,200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9496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$266,400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4944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$766,800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36484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take (0.75%)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$6,710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84048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$27,625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9496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$53,618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4944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$146,258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8600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$826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84048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$9,521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39496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$31,677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4944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$64,745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4306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$61,636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84048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$198,346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39496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$361,695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94944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$1,029,803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40080" y="4306824"/>
            <a:ext cx="7863840" cy="0"/>
          </a:xfrm>
          <a:prstGeom prst="line">
            <a:avLst/>
          </a:prstGeom>
          <a:noFill/>
          <a:ln w="12700">
            <a:solidFill>
              <a:srgbClr val="175FF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4526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mix shifts B2B → B2B2C:  </a:t>
            </a:r>
            <a:pPr indent="0" marL="0">
              <a:buNone/>
            </a:pPr>
            <a:r>
              <a:rPr lang="en-US" sz="10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98.7% auction-house / 1.3% transport in Y1 → 91.2% / 8.8% in Y5. Subscription stays ~74% of Y5 revenue — a consumer line on a B2B spine, not yet a co-equal pillar.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PAYNOW UPSIDE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dollar we move, moves on Paynow rails.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take revenue is thin by design. The GMV we route onto Paynow — and the products it activates — is the number that matters to you, and it grows fastest.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13716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68096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US$895k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68096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45766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45766" y="2286000"/>
            <a:ext cx="54864" cy="13716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3" name="Text 11"/>
          <p:cNvSpPr/>
          <p:nvPr/>
        </p:nvSpPr>
        <p:spPr>
          <a:xfrm>
            <a:off x="2373782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373782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US$2,463k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373782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51453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51453" y="2286000"/>
            <a:ext cx="54864" cy="13716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9469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979469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US$3,683k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979469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57139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57139" y="2286000"/>
            <a:ext cx="54864" cy="13716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23" name="Text 21"/>
          <p:cNvSpPr/>
          <p:nvPr/>
        </p:nvSpPr>
        <p:spPr>
          <a:xfrm>
            <a:off x="5585155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85155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US$5,311k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85155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062826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062826" y="2286000"/>
            <a:ext cx="54864" cy="13716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90842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90842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US$7,149k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190842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7673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GMV onto Paynow rails:  </a:t>
            </a:r>
            <a:pPr indent="0" marL="0">
              <a:buNone/>
            </a:pPr>
            <a:r>
              <a:rPr lang="en-US" sz="115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US$19,501,000 (over US$19.5M).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0080" y="4114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THIS PUTS TO WORK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43891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Express Checkout  ·  Bisafe escrow  ·  BillPay-as-biller  ·  EcoCash USSD  ·  merchant transfers  ·  SMS notifications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KILL THIS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real risks, each with a mitigation we've chosen.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the things that don't show up in a first-world model.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468880"/>
            <a:ext cx="384048" cy="384048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39572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 3 of ~8 Tier A anchors in Y1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25880" y="26974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aggressive assumption. Anchors-first GTM + a thin Y1 surplus and a 2–3 month buffer absorb a slow start; a gentler anchor cohort cascades cleanly through the model.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09160" y="228600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73752" y="2468880"/>
            <a:ext cx="384048" cy="384048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13" name="Text 11"/>
          <p:cNvSpPr/>
          <p:nvPr/>
        </p:nvSpPr>
        <p:spPr>
          <a:xfrm>
            <a:off x="487375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94960" y="239572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USD scarcity &amp; cash habits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94960" y="26974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transact in cash; USD is tight. Mitigation: meet them on five rails so digital is easier than cash, and recapture the sub-deposit slice the manual floor excludes.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703320"/>
            <a:ext cx="384048" cy="384048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63016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Currency volatility (ZWL/ZiG swings)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39319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margins evaporate. Mitigation: all pricing and contracts in USD; the take invoiced on USD-equivalent settled GMV.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09160" y="352044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73752" y="3703320"/>
            <a:ext cx="384048" cy="384048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23" name="Text 21"/>
          <p:cNvSpPr/>
          <p:nvPr/>
        </p:nvSpPr>
        <p:spPr>
          <a:xfrm>
            <a:off x="4873752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394960" y="363016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Paynow dependency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94960" y="39319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settlement spine runs on Paynow; an outage stalls the core value. Mitigation: poll-URL fallback live, browser-relay bypasses the Cloudflare bot wall. Deep alignment is the mitigation and the point.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PAYNOW RETURN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internship is worth to Paynow.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a product built on your rails: a flagship vertical, ~US$19.5M of GMV onto Paynow, and a developer-experience audit that makes the gateway easier for the next builder to adopt.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· HOW BIG IS THE PRIZE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~US$220M cattle trade. Almost none of it on a rail.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 runs one of Africa's larger cattle economies — and at the point of sale it is still overwhelmingly cash. Digitizing even a sliver routes serious GMV onto Paynow.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49424"/>
            <a:ext cx="2496312" cy="18836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49424"/>
            <a:ext cx="54864" cy="1883664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59152"/>
            <a:ext cx="2221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~US$220M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288950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cattle traded nationally / year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310128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5.7M-head national herd × 6% off-take ≈ 342,000 cattle sold a year, at a conservative US$650 each. Most changes hands farm-gate or on WhatsApp — in cash, off any rail.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3337560" y="2249424"/>
            <a:ext cx="2496312" cy="18836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2249424"/>
            <a:ext cx="54864" cy="1883664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2359152"/>
            <a:ext cx="2221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~US$90M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20440" y="288950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auction floor / year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3310128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auction houses (8 anchor · 20 mid · 20 regional), by sale-day GMV × cadence. This is the slice we can actually reach, settle and route onto Paynow.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6035040" y="2249424"/>
            <a:ext cx="2496312" cy="1883664"/>
          </a:xfrm>
          <a:prstGeom prst="rect">
            <a:avLst/>
          </a:prstGeom>
          <a:solidFill>
            <a:srgbClr val="0A2540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2249424"/>
            <a:ext cx="54864" cy="1883664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359152"/>
            <a:ext cx="2221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~US$9M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17920" y="288950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digitize just 10%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310128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of the formal floor — onto Paynow rails, from a market that is ~100% cash today. Our 5-yr plan lands here: a US$7.1M Year-5 run-rate, ~8% of the floor.</a:t>
            </a:r>
            <a:endParaRPr lang="en-US" sz="870" dirty="0"/>
          </a:p>
        </p:txBody>
      </p:sp>
      <p:sp>
        <p:nvSpPr>
          <p:cNvPr id="21" name="Text 19"/>
          <p:cNvSpPr/>
          <p:nvPr/>
        </p:nvSpPr>
        <p:spPr>
          <a:xfrm>
            <a:off x="640080" y="4334256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in:  </a:t>
            </a:r>
            <a:pPr indent="0" marL="0">
              <a:buNone/>
            </a:pPr>
            <a:r>
              <a:rPr lang="en-US" sz="83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herd 5.7M (Parliament / Newsday, Sept 2025) · 6% off-take (FAO) · live cattle US$2.84–3.93/kg (Selina Wamucii, 2025). Government targets a US$25bn livestock sector by 2030.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NUMBERS ARE BUILT · NO BLACK BOX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dollar traces to a driver.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US$19.5M is built bottom-up from auction-floor reality — not a top-down guess. Here is the chain, and Year 1 worked end-to-end.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CHAIN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441448"/>
            <a:ext cx="237744" cy="237744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87552" y="2414016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 live, by tier — 5 → 8 → 12 → 16 → 20 (anchors first)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843784"/>
            <a:ext cx="237744" cy="237744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43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87552" y="281635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sale-day GMV × cadence  =  each house's annual floor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237744" cy="237744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2461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87552" y="321868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digital adoption 10.5% → 13.7% — only the remote / sub-deposit slice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648456"/>
            <a:ext cx="237744" cy="237744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6484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7552" y="3621024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half-year go-live on every new cohort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4050792"/>
            <a:ext cx="237744" cy="237744"/>
          </a:xfrm>
          <a:prstGeom prst="ellipse">
            <a:avLst/>
          </a:prstGeom>
          <a:solidFill>
            <a:srgbClr val="13BFA3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050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87552" y="402336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 GMV settled onto Paynow rails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0600" y="2103120"/>
            <a:ext cx="3749040" cy="2286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00600" y="2103120"/>
            <a:ext cx="73152" cy="22860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0" y="21945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1, WORKED END-TO-END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29200" y="242316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anchor + 1 mid + 1 regional house (all new)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29200" y="27432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Full-year floor (3×$4.8M+$2.16M+$0.48M)</a:t>
            </a:r>
            <a:endParaRPr lang="en-US" sz="870" dirty="0"/>
          </a:p>
        </p:txBody>
      </p:sp>
      <p:sp>
        <p:nvSpPr>
          <p:cNvPr id="27" name="Text 25"/>
          <p:cNvSpPr/>
          <p:nvPr/>
        </p:nvSpPr>
        <p:spPr>
          <a:xfrm>
            <a:off x="7196328" y="2743200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$17.04M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311810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Half-year (all new cohort)  ÷ 2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7196328" y="3118104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$8.52M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0" y="349300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digital adoption  10.5%</a:t>
            </a:r>
            <a:endParaRPr lang="en-US" sz="870" dirty="0"/>
          </a:p>
        </p:txBody>
      </p:sp>
      <p:sp>
        <p:nvSpPr>
          <p:cNvPr id="31" name="Text 29"/>
          <p:cNvSpPr/>
          <p:nvPr/>
        </p:nvSpPr>
        <p:spPr>
          <a:xfrm>
            <a:off x="7196328" y="3493008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$894,600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0" y="386791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Cross-check:  ÷ $650 ticket</a:t>
            </a:r>
            <a:endParaRPr lang="en-US" sz="870" dirty="0"/>
          </a:p>
        </p:txBody>
      </p:sp>
      <p:sp>
        <p:nvSpPr>
          <p:cNvPr id="33" name="Text 31"/>
          <p:cNvSpPr/>
          <p:nvPr/>
        </p:nvSpPr>
        <p:spPr>
          <a:xfrm>
            <a:off x="7196328" y="3867912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1,376 tx 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0" y="407822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drivers × 5 years  →  US$19.5M cumulative onto Paynow.</a:t>
            </a:r>
            <a:endParaRPr lang="en-US" sz="870" dirty="0"/>
          </a:p>
        </p:txBody>
      </p:sp>
      <p:sp>
        <p:nvSpPr>
          <p:cNvPr id="35" name="Text 33"/>
          <p:cNvSpPr/>
          <p:nvPr/>
        </p:nvSpPr>
        <p:spPr>
          <a:xfrm>
            <a:off x="640080" y="455371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by construction:  </a:t>
            </a:r>
            <a:pPr indent="0" marL="0">
              <a:buNone/>
            </a:pPr>
            <a:r>
              <a:rPr lang="en-US" sz="9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1/3 of the market · adoption held &lt;14% · US$650 ticket skewed low · we model only the sub-deposit slice cash excludes. The one stretch — landing 3 of ~8 anchors in Year 1.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PROPOSITION FOR PAYNOW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ZimLivestock is a win for Paynow.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take is thin by design. The value to Paynow is the GMV, the vertical and the network it activates — not the 0.75% we charge the house.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874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20116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$19.5M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29809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onto your rails (5yr)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56432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Livestock settlement routed through Core Express Checkout, BillPay, EcoCash USSD &amp; merchant transfers — volume that is cash today.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51760" y="2286000"/>
            <a:ext cx="1874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2286000"/>
            <a:ext cx="54864" cy="20116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834640" y="29809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live in production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3456432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flagship reference deployment proving the Paynow ecosystem composes into a real, paying business — not a demo.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1874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286000"/>
            <a:ext cx="54864" cy="20116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40–60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846320" y="29809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merchant category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456432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 houses are a class Paynow doesn't serve today. Each house onboarded is a new recurring biller + settlement account.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75120" y="2286000"/>
            <a:ext cx="1874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75120" y="2286000"/>
            <a:ext cx="54864" cy="20116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858000" y="29809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 fixes delivered as feedback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456432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developer-experience benchmark vs Stripe, Paystack, Flutterwave &amp; Pesepay — the next integrator's path made shorter.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0080" y="4480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strategic fit:  </a:t>
            </a:r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Paynow's growing contacts open the doors; ZimLivestock does the on-the-ground operating — and every dollar it settles flows onto Paynow rails.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EXPERIENCE BENCHMARK · FINDINGS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also stress-tested your front door.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weeks integrating Paynow with no SDK, benchmarked against four global gateways — the honest scorecard, and what Paynow already does better than anyone in this market.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08483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DX: 3.0 / 5</a:t>
            </a:r>
            <a:pPr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— Stripe 4.8 · Paystack 4.2 · Flutterwave 3.5 (same framework)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87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331720" y="2532888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9" name="Shape 7"/>
          <p:cNvSpPr/>
          <p:nvPr/>
        </p:nvSpPr>
        <p:spPr>
          <a:xfrm>
            <a:off x="2331720" y="2532888"/>
            <a:ext cx="1069848" cy="146304"/>
          </a:xfrm>
          <a:prstGeom prst="rect">
            <a:avLst/>
          </a:prstGeom>
          <a:solidFill>
            <a:srgbClr val="13BFA3"/>
          </a:solidFill>
          <a:ln/>
        </p:spPr>
      </p:sp>
      <p:sp>
        <p:nvSpPr>
          <p:cNvPr id="10" name="Text 8"/>
          <p:cNvSpPr/>
          <p:nvPr/>
        </p:nvSpPr>
        <p:spPr>
          <a:xfrm>
            <a:off x="4206240" y="248716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7980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simplicity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331720" y="2843784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13" name="Shape 11"/>
          <p:cNvSpPr/>
          <p:nvPr/>
        </p:nvSpPr>
        <p:spPr>
          <a:xfrm>
            <a:off x="2331720" y="2843784"/>
            <a:ext cx="891540" cy="146304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4" name="Text 12"/>
          <p:cNvSpPr/>
          <p:nvPr/>
        </p:nvSpPr>
        <p:spPr>
          <a:xfrm>
            <a:off x="4206240" y="27980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1089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331720" y="3154680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1720" y="3154680"/>
            <a:ext cx="891540" cy="146304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0080" y="34198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accessibility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31720" y="3465576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21" name="Shape 19"/>
          <p:cNvSpPr/>
          <p:nvPr/>
        </p:nvSpPr>
        <p:spPr>
          <a:xfrm>
            <a:off x="2331720" y="3465576"/>
            <a:ext cx="713232" cy="146304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0" y="341985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37307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quality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31720" y="3776472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25" name="Shape 23"/>
          <p:cNvSpPr/>
          <p:nvPr/>
        </p:nvSpPr>
        <p:spPr>
          <a:xfrm>
            <a:off x="2331720" y="3776472"/>
            <a:ext cx="1069848" cy="146304"/>
          </a:xfrm>
          <a:prstGeom prst="rect">
            <a:avLst/>
          </a:prstGeom>
          <a:solidFill>
            <a:srgbClr val="13BFA3"/>
          </a:solidFill>
          <a:ln/>
        </p:spPr>
      </p:sp>
      <p:sp>
        <p:nvSpPr>
          <p:cNvPr id="26" name="Text 24"/>
          <p:cNvSpPr/>
          <p:nvPr/>
        </p:nvSpPr>
        <p:spPr>
          <a:xfrm>
            <a:off x="4206240" y="37307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0080" y="40416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/ testing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31720" y="4087368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29" name="Shape 27"/>
          <p:cNvSpPr/>
          <p:nvPr/>
        </p:nvSpPr>
        <p:spPr>
          <a:xfrm>
            <a:off x="2331720" y="4087368"/>
            <a:ext cx="1426464" cy="146304"/>
          </a:xfrm>
          <a:prstGeom prst="rect">
            <a:avLst/>
          </a:prstGeom>
          <a:solidFill>
            <a:srgbClr val="13BFA3"/>
          </a:solidFill>
          <a:ln/>
        </p:spPr>
      </p:sp>
      <p:sp>
        <p:nvSpPr>
          <p:cNvPr id="30" name="Text 28"/>
          <p:cNvSpPr/>
          <p:nvPr/>
        </p:nvSpPr>
        <p:spPr>
          <a:xfrm>
            <a:off x="4206240" y="4041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0080" y="43525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speed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331720" y="4398264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33" name="Shape 31"/>
          <p:cNvSpPr/>
          <p:nvPr/>
        </p:nvSpPr>
        <p:spPr>
          <a:xfrm>
            <a:off x="2331720" y="4398264"/>
            <a:ext cx="1426464" cy="146304"/>
          </a:xfrm>
          <a:prstGeom prst="rect">
            <a:avLst/>
          </a:prstGeom>
          <a:solidFill>
            <a:srgbClr val="13BFA3"/>
          </a:solidFill>
          <a:ln/>
        </p:spPr>
      </p:sp>
      <p:sp>
        <p:nvSpPr>
          <p:cNvPr id="34" name="Text 32"/>
          <p:cNvSpPr/>
          <p:nvPr/>
        </p:nvSpPr>
        <p:spPr>
          <a:xfrm>
            <a:off x="4206240" y="43525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74920" y="2395728"/>
            <a:ext cx="3474720" cy="2212848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6" name="Shape 34"/>
          <p:cNvSpPr/>
          <p:nvPr/>
        </p:nvSpPr>
        <p:spPr>
          <a:xfrm>
            <a:off x="5074920" y="2395728"/>
            <a:ext cx="73152" cy="2212848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7" name="Text 35"/>
          <p:cNvSpPr/>
          <p:nvPr/>
        </p:nvSpPr>
        <p:spPr>
          <a:xfrm>
            <a:off x="5285232" y="25054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PAYNOW ALREADY WINS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03520" y="2852928"/>
            <a:ext cx="91440" cy="9144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0" y="279806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Widest local coverage — EcoCash, OneMoney, InnBucks, O'mari, Zimswitch, Visa/MC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5303520" y="3209544"/>
            <a:ext cx="91440" cy="9144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0" y="31546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BuySafe escrow built in — Stripe charges extra; Paystack has none</a:t>
            </a:r>
            <a:endParaRPr lang="en-US" sz="870" dirty="0"/>
          </a:p>
        </p:txBody>
      </p:sp>
      <p:sp>
        <p:nvSpPr>
          <p:cNvPr id="42" name="Shape 40"/>
          <p:cNvSpPr/>
          <p:nvPr/>
        </p:nvSpPr>
        <p:spPr>
          <a:xfrm>
            <a:off x="5303520" y="3566160"/>
            <a:ext cx="91440" cy="9144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43" name="Text 41"/>
          <p:cNvSpPr/>
          <p:nvPr/>
        </p:nvSpPr>
        <p:spPr>
          <a:xfrm>
            <a:off x="5486400" y="351129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test mode — success / delayed / cancelled / insufficient</a:t>
            </a:r>
            <a:endParaRPr lang="en-US" sz="870" dirty="0"/>
          </a:p>
        </p:txBody>
      </p:sp>
      <p:sp>
        <p:nvSpPr>
          <p:cNvPr id="44" name="Shape 42"/>
          <p:cNvSpPr/>
          <p:nvPr/>
        </p:nvSpPr>
        <p:spPr>
          <a:xfrm>
            <a:off x="5303520" y="3922776"/>
            <a:ext cx="91440" cy="9144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45" name="Text 43"/>
          <p:cNvSpPr/>
          <p:nvPr/>
        </p:nvSpPr>
        <p:spPr>
          <a:xfrm>
            <a:off x="5486400" y="386791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 Vendor API is genuinely well-designed (AUTH→PAY, JSON)</a:t>
            </a:r>
            <a:endParaRPr lang="en-US" sz="870" dirty="0"/>
          </a:p>
        </p:txBody>
      </p:sp>
      <p:sp>
        <p:nvSpPr>
          <p:cNvPr id="46" name="Shape 44"/>
          <p:cNvSpPr/>
          <p:nvPr/>
        </p:nvSpPr>
        <p:spPr>
          <a:xfrm>
            <a:off x="5303520" y="4279392"/>
            <a:ext cx="91440" cy="9144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0" y="4224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minimum fees — works for micro-transactions</a:t>
            </a:r>
            <a:endParaRPr lang="en-US" sz="870" dirty="0"/>
          </a:p>
        </p:txBody>
      </p:sp>
      <p:sp>
        <p:nvSpPr>
          <p:cNvPr id="48" name="Text 46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EXPERIENCE BENCHMARK · SOLUTIONS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Nine recommendations, ranked by severity.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issue I hit became a concrete, defensible fix. The report is a gift to whoever builds on Paynow next.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76272"/>
            <a:ext cx="7863840" cy="5120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286000"/>
            <a:ext cx="1097280" cy="32918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860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·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57400" y="217627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API off the bot-walled www domain — host it on api.paynow.co.zw with no Cloudflare challenge. </a:t>
            </a:r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the live demo routes through a browser-relay.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761488"/>
            <a:ext cx="7863840" cy="5120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871216"/>
            <a:ext cx="1097280" cy="329184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87121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·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2761488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JSON alongside form-encoding · Document the hash field-order explicitly · Return structured error codes — today one “Invalid Hash” hides five different root causes.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346704"/>
            <a:ext cx="7863840" cy="5120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456432"/>
            <a:ext cx="1097280" cy="329184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5643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· 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57400" y="3346704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express-checkout examples · A status page + webhook delivery logs · Publish an OpenAPI spec · Make the Node &amp; Java SDKs behave identically.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931920"/>
            <a:ext cx="7863840" cy="5120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41648"/>
            <a:ext cx="1097280" cy="329184"/>
          </a:xfrm>
          <a:prstGeom prst="rect">
            <a:avLst/>
          </a:prstGeom>
          <a:solidFill>
            <a:srgbClr val="5B6B86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04164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·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57400" y="3931920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test-mode docs — team testing, webhook testing and a go-live checklist.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453542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 </a:t>
            </a:r>
            <a:pPr indent="0" marL="0">
              <a:buNone/>
            </a:pPr>
            <a:r>
              <a:rPr lang="en-US" sz="9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DX scored 3.0/5 — solid, and every gap is fixable; most are documentation, not architecture. Full report: paynow-dx-recommendations.md.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money. Doors and rails.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things, neither of them a cheque.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188720" y="2532888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your growing contacts   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Paynow's expanding network of merchants, billers and industry relationships — as the starting point for selling this settlement engine into the livestock market. Your contacts are the doors; I do the on-the-ground operating you don't want to.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88720" y="3630168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Continued access to the rails &amp; core infrastructure   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me on the Paynow stack I've built ZimLivestock on — Core Express Checkout, BillPay-as-biller, EcoCash USSD, merchant transfers, SMS. The engine runs on your rails; staying plugged in is what keeps every dollar of GMV flowing onto them.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ONE-PARAGRAPH VERSION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sat through a real sale day, found four problems the auction floor can't solve, and built a digital floor on Paynow rails that already runs in production.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turns out to be the money layer that three of four national cattle-digitization initiatives lack — the settlement, payout and title-transfer engine the identity layers plug into.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five-year plan reaches 20 houses — about a third of the market — for US$1.03M revenue and a US$346,583 cumulative surplus, self-funded, routing over US$19.5M onto Paynow rails.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 is one 90-day paid pilot to land the first anchor and prove the playbook.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software you can sell — and a business this market can actually carry.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1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    ·    companions: gtm-strategy.md · financial-model.xlsx · national-initiative-alignment.md · paynow-dx-recommendations.md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ZimLivestock — Final Internship Presentation</dc:title>
  <dc:subject>PptxGenJS Presentation</dc:subject>
  <dc:creator>Tatenda Nyemudzo</dc:creator>
  <cp:lastModifiedBy>Tatenda Nyemudzo</cp:lastModifiedBy>
  <cp:revision>1</cp:revision>
  <dcterms:created xsi:type="dcterms:W3CDTF">2026-06-05T09:36:05Z</dcterms:created>
  <dcterms:modified xsi:type="dcterms:W3CDTF">2026-06-05T09:36:05Z</dcterms:modified>
</cp:coreProperties>
</file>